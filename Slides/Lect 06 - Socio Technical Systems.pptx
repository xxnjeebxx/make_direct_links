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52"/>
  </p:notesMasterIdLst>
  <p:handoutMasterIdLst>
    <p:handoutMasterId r:id="rId53"/>
  </p:handoutMasterIdLst>
  <p:sldIdLst>
    <p:sldId id="256" r:id="rId2"/>
    <p:sldId id="274" r:id="rId3"/>
    <p:sldId id="275" r:id="rId4"/>
    <p:sldId id="318" r:id="rId5"/>
    <p:sldId id="257" r:id="rId6"/>
    <p:sldId id="276" r:id="rId7"/>
    <p:sldId id="277" r:id="rId8"/>
    <p:sldId id="278" r:id="rId9"/>
    <p:sldId id="266" r:id="rId10"/>
    <p:sldId id="267" r:id="rId11"/>
    <p:sldId id="279" r:id="rId12"/>
    <p:sldId id="268" r:id="rId13"/>
    <p:sldId id="269" r:id="rId14"/>
    <p:sldId id="258" r:id="rId15"/>
    <p:sldId id="271" r:id="rId16"/>
    <p:sldId id="272" r:id="rId17"/>
    <p:sldId id="273" r:id="rId18"/>
    <p:sldId id="259" r:id="rId19"/>
    <p:sldId id="280" r:id="rId20"/>
    <p:sldId id="281" r:id="rId21"/>
    <p:sldId id="282" r:id="rId22"/>
    <p:sldId id="283" r:id="rId23"/>
    <p:sldId id="260" r:id="rId24"/>
    <p:sldId id="284" r:id="rId25"/>
    <p:sldId id="285" r:id="rId26"/>
    <p:sldId id="261" r:id="rId27"/>
    <p:sldId id="286" r:id="rId28"/>
    <p:sldId id="289" r:id="rId29"/>
    <p:sldId id="290" r:id="rId30"/>
    <p:sldId id="291" r:id="rId31"/>
    <p:sldId id="262" r:id="rId32"/>
    <p:sldId id="293" r:id="rId33"/>
    <p:sldId id="294" r:id="rId34"/>
    <p:sldId id="295" r:id="rId35"/>
    <p:sldId id="297" r:id="rId36"/>
    <p:sldId id="263" r:id="rId37"/>
    <p:sldId id="298" r:id="rId38"/>
    <p:sldId id="301" r:id="rId39"/>
    <p:sldId id="304" r:id="rId40"/>
    <p:sldId id="264" r:id="rId41"/>
    <p:sldId id="305" r:id="rId42"/>
    <p:sldId id="306" r:id="rId43"/>
    <p:sldId id="307" r:id="rId44"/>
    <p:sldId id="317" r:id="rId45"/>
    <p:sldId id="310" r:id="rId46"/>
    <p:sldId id="311" r:id="rId47"/>
    <p:sldId id="308" r:id="rId48"/>
    <p:sldId id="316" r:id="rId49"/>
    <p:sldId id="319" r:id="rId50"/>
    <p:sldId id="313" r:id="rId5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101" d="100"/>
          <a:sy n="101" d="100"/>
        </p:scale>
        <p:origin x="510" y="4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603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DCF7500-61A6-1B46-BFE9-84A47FCBACF4}" type="datetimeFigureOut">
              <a:rPr lang="en-US" smtClean="0"/>
              <a:pPr/>
              <a:t>11/7/2021</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8B18564-EF0D-A042-BC27-1B3545FB177C}" type="slidenum">
              <a:rPr lang="en-US" smtClean="0"/>
              <a:pPr/>
              <a:t>‹#›</a:t>
            </a:fld>
            <a:endParaRPr lang="en-US"/>
          </a:p>
        </p:txBody>
      </p:sp>
    </p:spTree>
    <p:extLst>
      <p:ext uri="{BB962C8B-B14F-4D97-AF65-F5344CB8AC3E}">
        <p14:creationId xmlns:p14="http://schemas.microsoft.com/office/powerpoint/2010/main" val="77168008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A33EE0B-1B05-7749-B899-6F74DDE1A0E0}" type="datetimeFigureOut">
              <a:rPr lang="en-US" smtClean="0"/>
              <a:pPr/>
              <a:t>11/7/2021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F2F9A70-B2D4-284A-8EC0-58F351ADC032}" type="slidenum">
              <a:rPr lang="en-US" smtClean="0"/>
              <a:pPr/>
              <a:t>‹#›</a:t>
            </a:fld>
            <a:endParaRPr lang="en-US"/>
          </a:p>
        </p:txBody>
      </p:sp>
    </p:spTree>
    <p:extLst>
      <p:ext uri="{BB962C8B-B14F-4D97-AF65-F5344CB8AC3E}">
        <p14:creationId xmlns:p14="http://schemas.microsoft.com/office/powerpoint/2010/main" val="2049723801"/>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body" idx="1"/>
          </p:nvPr>
        </p:nvSpPr>
        <p:spPr>
          <a:ln/>
        </p:spPr>
        <p:txBody>
          <a:bodyPr/>
          <a:lstStyle/>
          <a:p>
            <a:endParaRPr lang="en-US"/>
          </a:p>
        </p:txBody>
      </p:sp>
      <p:sp>
        <p:nvSpPr>
          <p:cNvPr id="10243"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18862896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body" idx="1"/>
          </p:nvPr>
        </p:nvSpPr>
        <p:spPr>
          <a:ln/>
        </p:spPr>
        <p:txBody>
          <a:bodyPr/>
          <a:lstStyle/>
          <a:p>
            <a:endParaRPr lang="en-US"/>
          </a:p>
        </p:txBody>
      </p:sp>
      <p:sp>
        <p:nvSpPr>
          <p:cNvPr id="12291"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647067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body" idx="1"/>
          </p:nvPr>
        </p:nvSpPr>
        <p:spPr>
          <a:ln/>
        </p:spPr>
        <p:txBody>
          <a:bodyPr/>
          <a:lstStyle/>
          <a:p>
            <a:endParaRPr lang="en-US"/>
          </a:p>
        </p:txBody>
      </p:sp>
      <p:sp>
        <p:nvSpPr>
          <p:cNvPr id="14339"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38508099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body" idx="1"/>
          </p:nvPr>
        </p:nvSpPr>
        <p:spPr>
          <a:ln/>
        </p:spPr>
        <p:txBody>
          <a:bodyPr/>
          <a:lstStyle/>
          <a:p>
            <a:endParaRPr lang="en-US"/>
          </a:p>
        </p:txBody>
      </p:sp>
      <p:sp>
        <p:nvSpPr>
          <p:cNvPr id="55299"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1811993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body" idx="1"/>
          </p:nvPr>
        </p:nvSpPr>
        <p:spPr>
          <a:ln/>
        </p:spPr>
        <p:txBody>
          <a:bodyPr/>
          <a:lstStyle/>
          <a:p>
            <a:endParaRPr lang="en-US"/>
          </a:p>
        </p:txBody>
      </p:sp>
      <p:sp>
        <p:nvSpPr>
          <p:cNvPr id="59395"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14732040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body" idx="1"/>
          </p:nvPr>
        </p:nvSpPr>
        <p:spPr>
          <a:ln/>
        </p:spPr>
        <p:txBody>
          <a:bodyPr/>
          <a:lstStyle/>
          <a:p>
            <a:endParaRPr lang="en-US"/>
          </a:p>
        </p:txBody>
      </p:sp>
      <p:sp>
        <p:nvSpPr>
          <p:cNvPr id="33795" name="Rectangle 3"/>
          <p:cNvSpPr>
            <a:spLocks noGrp="1" noRot="1" noChangeAspect="1" noChangeArrowheads="1" noTextEdit="1"/>
          </p:cNvSpPr>
          <p:nvPr>
            <p:ph type="sldImg"/>
          </p:nvPr>
        </p:nvSpPr>
        <p:spPr>
          <a:xfrm>
            <a:off x="1689100" y="781050"/>
            <a:ext cx="3454400" cy="2590800"/>
          </a:xfrm>
          <a:ln cap="flat"/>
        </p:spPr>
      </p:sp>
    </p:spTree>
    <p:extLst>
      <p:ext uri="{BB962C8B-B14F-4D97-AF65-F5344CB8AC3E}">
        <p14:creationId xmlns:p14="http://schemas.microsoft.com/office/powerpoint/2010/main" val="27768677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body" idx="1"/>
          </p:nvPr>
        </p:nvSpPr>
        <p:spPr>
          <a:ln/>
        </p:spPr>
        <p:txBody>
          <a:bodyPr/>
          <a:lstStyle/>
          <a:p>
            <a:endParaRPr lang="en-US"/>
          </a:p>
        </p:txBody>
      </p:sp>
      <p:sp>
        <p:nvSpPr>
          <p:cNvPr id="35843"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18412008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body" idx="1"/>
          </p:nvPr>
        </p:nvSpPr>
        <p:spPr>
          <a:ln/>
        </p:spPr>
        <p:txBody>
          <a:bodyPr/>
          <a:lstStyle/>
          <a:p>
            <a:endParaRPr lang="en-US"/>
          </a:p>
        </p:txBody>
      </p:sp>
      <p:sp>
        <p:nvSpPr>
          <p:cNvPr id="37891"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34878595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lvl1pPr>
              <a:defRPr/>
            </a:lvl1pPr>
          </a:lstStyle>
          <a:p>
            <a:fld id="{5803ABAB-F4A7-4509-9B31-39C2A3141AA7}" type="datetime1">
              <a:rPr lang="en-US" smtClean="0"/>
              <a:t>11/7/2021</a:t>
            </a:fld>
            <a:endParaRPr lang="en-US"/>
          </a:p>
        </p:txBody>
      </p:sp>
      <p:sp>
        <p:nvSpPr>
          <p:cNvPr id="5" name="Footer Placeholder 4"/>
          <p:cNvSpPr>
            <a:spLocks noGrp="1"/>
          </p:cNvSpPr>
          <p:nvPr>
            <p:ph type="ftr" sz="quarter" idx="11"/>
          </p:nvPr>
        </p:nvSpPr>
        <p:spPr/>
        <p:txBody>
          <a:bodyPr/>
          <a:lstStyle>
            <a:lvl1pPr>
              <a:defRPr/>
            </a:lvl1pPr>
          </a:lstStyle>
          <a:p>
            <a:r>
              <a:rPr lang="en-US"/>
              <a:t>Chapter 10 Sociotechnical Systems</a:t>
            </a:r>
          </a:p>
        </p:txBody>
      </p:sp>
      <p:sp>
        <p:nvSpPr>
          <p:cNvPr id="6" name="Slide Number Placeholder 5"/>
          <p:cNvSpPr>
            <a:spLocks noGrp="1"/>
          </p:cNvSpPr>
          <p:nvPr>
            <p:ph type="sldNum" sz="quarter" idx="12"/>
          </p:nvPr>
        </p:nvSpPr>
        <p:spPr/>
        <p:txBody>
          <a:bodyPr/>
          <a:lstStyle>
            <a:lvl1pPr>
              <a:defRPr/>
            </a:lvl1pPr>
          </a:lstStyle>
          <a:p>
            <a:fld id="{A86F8904-DFC0-E240-BFF8-1216C9CAE37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lvl1pPr>
              <a:defRPr/>
            </a:lvl1pPr>
          </a:lstStyle>
          <a:p>
            <a:fld id="{6B03FE4A-C5BB-427E-AFEE-54041CFFB2FE}" type="datetime1">
              <a:rPr lang="en-US" smtClean="0"/>
              <a:t>11/7/2021</a:t>
            </a:fld>
            <a:endParaRPr lang="en-US"/>
          </a:p>
        </p:txBody>
      </p:sp>
      <p:sp>
        <p:nvSpPr>
          <p:cNvPr id="5" name="Footer Placeholder 4"/>
          <p:cNvSpPr>
            <a:spLocks noGrp="1"/>
          </p:cNvSpPr>
          <p:nvPr>
            <p:ph type="ftr" sz="quarter" idx="11"/>
          </p:nvPr>
        </p:nvSpPr>
        <p:spPr/>
        <p:txBody>
          <a:bodyPr/>
          <a:lstStyle>
            <a:lvl1pPr>
              <a:defRPr/>
            </a:lvl1pPr>
          </a:lstStyle>
          <a:p>
            <a:r>
              <a:rPr lang="en-US"/>
              <a:t>Chapter 10 Sociotechnical Systems</a:t>
            </a:r>
          </a:p>
        </p:txBody>
      </p:sp>
      <p:sp>
        <p:nvSpPr>
          <p:cNvPr id="6" name="Slide Number Placeholder 5"/>
          <p:cNvSpPr>
            <a:spLocks noGrp="1"/>
          </p:cNvSpPr>
          <p:nvPr>
            <p:ph type="sldNum" sz="quarter" idx="12"/>
          </p:nvPr>
        </p:nvSpPr>
        <p:spPr/>
        <p:txBody>
          <a:bodyPr/>
          <a:lstStyle>
            <a:lvl1pPr>
              <a:defRPr/>
            </a:lvl1pPr>
          </a:lstStyle>
          <a:p>
            <a:fld id="{A86F8904-DFC0-E240-BFF8-1216C9CAE37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lvl1pPr>
              <a:defRPr/>
            </a:lvl1pPr>
          </a:lstStyle>
          <a:p>
            <a:fld id="{10C7AC91-A090-4A8D-823F-CE24A7902306}" type="datetime1">
              <a:rPr lang="en-US" smtClean="0"/>
              <a:t>11/7/2021</a:t>
            </a:fld>
            <a:endParaRPr lang="en-US"/>
          </a:p>
        </p:txBody>
      </p:sp>
      <p:sp>
        <p:nvSpPr>
          <p:cNvPr id="5" name="Footer Placeholder 4"/>
          <p:cNvSpPr>
            <a:spLocks noGrp="1"/>
          </p:cNvSpPr>
          <p:nvPr>
            <p:ph type="ftr" sz="quarter" idx="11"/>
          </p:nvPr>
        </p:nvSpPr>
        <p:spPr/>
        <p:txBody>
          <a:bodyPr/>
          <a:lstStyle>
            <a:lvl1pPr>
              <a:defRPr/>
            </a:lvl1pPr>
          </a:lstStyle>
          <a:p>
            <a:r>
              <a:rPr lang="en-US"/>
              <a:t>Chapter 10 Sociotechnical Systems</a:t>
            </a:r>
          </a:p>
        </p:txBody>
      </p:sp>
      <p:sp>
        <p:nvSpPr>
          <p:cNvPr id="6" name="Slide Number Placeholder 5"/>
          <p:cNvSpPr>
            <a:spLocks noGrp="1"/>
          </p:cNvSpPr>
          <p:nvPr>
            <p:ph type="sldNum" sz="quarter" idx="12"/>
          </p:nvPr>
        </p:nvSpPr>
        <p:spPr/>
        <p:txBody>
          <a:bodyPr/>
          <a:lstStyle>
            <a:lvl1pPr>
              <a:defRPr/>
            </a:lvl1pPr>
          </a:lstStyle>
          <a:p>
            <a:fld id="{A86F8904-DFC0-E240-BFF8-1216C9CAE37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p:txBody>
          <a:bodyPr/>
          <a:lstStyle>
            <a:lvl1pPr>
              <a:defRPr/>
            </a:lvl1pPr>
          </a:lstStyle>
          <a:p>
            <a:fld id="{802B7EC2-E33D-48A5-93FC-8F2C9576DD5F}" type="datetime1">
              <a:rPr lang="en-US" smtClean="0"/>
              <a:t>11/7/2021</a:t>
            </a:fld>
            <a:endParaRPr lang="en-US"/>
          </a:p>
        </p:txBody>
      </p:sp>
      <p:sp>
        <p:nvSpPr>
          <p:cNvPr id="6" name="Footer Placeholder 4"/>
          <p:cNvSpPr>
            <a:spLocks noGrp="1"/>
          </p:cNvSpPr>
          <p:nvPr>
            <p:ph type="ftr" sz="quarter" idx="11"/>
          </p:nvPr>
        </p:nvSpPr>
        <p:spPr/>
        <p:txBody>
          <a:bodyPr/>
          <a:lstStyle>
            <a:lvl1pPr>
              <a:defRPr/>
            </a:lvl1pPr>
          </a:lstStyle>
          <a:p>
            <a:r>
              <a:rPr lang="en-US"/>
              <a:t>Chapter 10 Sociotechnical Systems</a:t>
            </a:r>
          </a:p>
        </p:txBody>
      </p:sp>
      <p:sp>
        <p:nvSpPr>
          <p:cNvPr id="7" name="Slide Number Placeholder 5"/>
          <p:cNvSpPr>
            <a:spLocks noGrp="1"/>
          </p:cNvSpPr>
          <p:nvPr>
            <p:ph type="sldNum" sz="quarter" idx="12"/>
          </p:nvPr>
        </p:nvSpPr>
        <p:spPr/>
        <p:txBody>
          <a:bodyPr/>
          <a:lstStyle>
            <a:lvl1pPr>
              <a:defRPr/>
            </a:lvl1pPr>
          </a:lstStyle>
          <a:p>
            <a:fld id="{A86F8904-DFC0-E240-BFF8-1216C9CAE37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p:txBody>
          <a:bodyPr/>
          <a:lstStyle>
            <a:lvl1pPr>
              <a:defRPr/>
            </a:lvl1pPr>
          </a:lstStyle>
          <a:p>
            <a:fld id="{320D4E11-0CD4-4A14-8F13-4C80A8E1FE4A}" type="datetime1">
              <a:rPr lang="en-US" smtClean="0"/>
              <a:t>11/7/2021</a:t>
            </a:fld>
            <a:endParaRPr lang="en-US"/>
          </a:p>
        </p:txBody>
      </p:sp>
      <p:sp>
        <p:nvSpPr>
          <p:cNvPr id="8" name="Footer Placeholder 4"/>
          <p:cNvSpPr>
            <a:spLocks noGrp="1"/>
          </p:cNvSpPr>
          <p:nvPr>
            <p:ph type="ftr" sz="quarter" idx="11"/>
          </p:nvPr>
        </p:nvSpPr>
        <p:spPr/>
        <p:txBody>
          <a:bodyPr/>
          <a:lstStyle>
            <a:lvl1pPr>
              <a:defRPr/>
            </a:lvl1pPr>
          </a:lstStyle>
          <a:p>
            <a:r>
              <a:rPr lang="en-US"/>
              <a:t>Chapter 10 Sociotechnical Systems</a:t>
            </a:r>
          </a:p>
        </p:txBody>
      </p:sp>
      <p:sp>
        <p:nvSpPr>
          <p:cNvPr id="9" name="Slide Number Placeholder 5"/>
          <p:cNvSpPr>
            <a:spLocks noGrp="1"/>
          </p:cNvSpPr>
          <p:nvPr>
            <p:ph type="sldNum" sz="quarter" idx="12"/>
          </p:nvPr>
        </p:nvSpPr>
        <p:spPr/>
        <p:txBody>
          <a:bodyPr/>
          <a:lstStyle>
            <a:lvl1pPr>
              <a:defRPr/>
            </a:lvl1pPr>
          </a:lstStyle>
          <a:p>
            <a:fld id="{A86F8904-DFC0-E240-BFF8-1216C9CAE37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p:txBody>
          <a:bodyPr/>
          <a:lstStyle>
            <a:lvl1pPr>
              <a:defRPr/>
            </a:lvl1pPr>
          </a:lstStyle>
          <a:p>
            <a:fld id="{44CDD0A7-2E55-479F-A1DB-3BA7D92D48A8}" type="datetime1">
              <a:rPr lang="en-US" smtClean="0"/>
              <a:t>11/7/2021</a:t>
            </a:fld>
            <a:endParaRPr lang="en-US"/>
          </a:p>
        </p:txBody>
      </p:sp>
      <p:sp>
        <p:nvSpPr>
          <p:cNvPr id="4" name="Footer Placeholder 4"/>
          <p:cNvSpPr>
            <a:spLocks noGrp="1"/>
          </p:cNvSpPr>
          <p:nvPr>
            <p:ph type="ftr" sz="quarter" idx="11"/>
          </p:nvPr>
        </p:nvSpPr>
        <p:spPr/>
        <p:txBody>
          <a:bodyPr/>
          <a:lstStyle>
            <a:lvl1pPr>
              <a:defRPr/>
            </a:lvl1pPr>
          </a:lstStyle>
          <a:p>
            <a:r>
              <a:rPr lang="en-US"/>
              <a:t>Chapter 10 Sociotechnical Systems</a:t>
            </a:r>
          </a:p>
        </p:txBody>
      </p:sp>
      <p:sp>
        <p:nvSpPr>
          <p:cNvPr id="5" name="Slide Number Placeholder 5"/>
          <p:cNvSpPr>
            <a:spLocks noGrp="1"/>
          </p:cNvSpPr>
          <p:nvPr>
            <p:ph type="sldNum" sz="quarter" idx="12"/>
          </p:nvPr>
        </p:nvSpPr>
        <p:spPr/>
        <p:txBody>
          <a:bodyPr/>
          <a:lstStyle>
            <a:lvl1pPr>
              <a:defRPr/>
            </a:lvl1pPr>
          </a:lstStyle>
          <a:p>
            <a:fld id="{A86F8904-DFC0-E240-BFF8-1216C9CAE37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DB84BCE8-C490-440C-A867-0BB33AB4439B}" type="datetime1">
              <a:rPr lang="en-US" smtClean="0"/>
              <a:t>11/7/2021</a:t>
            </a:fld>
            <a:endParaRPr lang="en-US"/>
          </a:p>
        </p:txBody>
      </p:sp>
      <p:sp>
        <p:nvSpPr>
          <p:cNvPr id="3" name="Footer Placeholder 4"/>
          <p:cNvSpPr>
            <a:spLocks noGrp="1"/>
          </p:cNvSpPr>
          <p:nvPr>
            <p:ph type="ftr" sz="quarter" idx="11"/>
          </p:nvPr>
        </p:nvSpPr>
        <p:spPr/>
        <p:txBody>
          <a:bodyPr/>
          <a:lstStyle>
            <a:lvl1pPr>
              <a:defRPr/>
            </a:lvl1pPr>
          </a:lstStyle>
          <a:p>
            <a:r>
              <a:rPr lang="en-US"/>
              <a:t>Chapter 10 Sociotechnical Systems</a:t>
            </a:r>
          </a:p>
        </p:txBody>
      </p:sp>
      <p:sp>
        <p:nvSpPr>
          <p:cNvPr id="4" name="Slide Number Placeholder 5"/>
          <p:cNvSpPr>
            <a:spLocks noGrp="1"/>
          </p:cNvSpPr>
          <p:nvPr>
            <p:ph type="sldNum" sz="quarter" idx="12"/>
          </p:nvPr>
        </p:nvSpPr>
        <p:spPr/>
        <p:txBody>
          <a:bodyPr/>
          <a:lstStyle>
            <a:lvl1pPr>
              <a:defRPr/>
            </a:lvl1pPr>
          </a:lstStyle>
          <a:p>
            <a:fld id="{A86F8904-DFC0-E240-BFF8-1216C9CAE37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fld id="{12CC1F5D-7272-4B20-AFF3-BCBB777F3D27}" type="datetime1">
              <a:rPr lang="en-US" smtClean="0"/>
              <a:t>11/7/2021</a:t>
            </a:fld>
            <a:endParaRPr lang="en-US"/>
          </a:p>
        </p:txBody>
      </p:sp>
      <p:sp>
        <p:nvSpPr>
          <p:cNvPr id="6" name="Footer Placeholder 4"/>
          <p:cNvSpPr>
            <a:spLocks noGrp="1"/>
          </p:cNvSpPr>
          <p:nvPr>
            <p:ph type="ftr" sz="quarter" idx="11"/>
          </p:nvPr>
        </p:nvSpPr>
        <p:spPr/>
        <p:txBody>
          <a:bodyPr/>
          <a:lstStyle>
            <a:lvl1pPr>
              <a:defRPr/>
            </a:lvl1pPr>
          </a:lstStyle>
          <a:p>
            <a:r>
              <a:rPr lang="en-US"/>
              <a:t>Chapter 10 Sociotechnical Systems</a:t>
            </a:r>
          </a:p>
        </p:txBody>
      </p:sp>
      <p:sp>
        <p:nvSpPr>
          <p:cNvPr id="7" name="Slide Number Placeholder 5"/>
          <p:cNvSpPr>
            <a:spLocks noGrp="1"/>
          </p:cNvSpPr>
          <p:nvPr>
            <p:ph type="sldNum" sz="quarter" idx="12"/>
          </p:nvPr>
        </p:nvSpPr>
        <p:spPr/>
        <p:txBody>
          <a:bodyPr/>
          <a:lstStyle>
            <a:lvl1pPr>
              <a:defRPr/>
            </a:lvl1pPr>
          </a:lstStyle>
          <a:p>
            <a:fld id="{A86F8904-DFC0-E240-BFF8-1216C9CAE37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Click icon to add picture</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fld id="{8716C951-2F10-46CB-944A-0F69769B4F50}" type="datetime1">
              <a:rPr lang="en-US" smtClean="0"/>
              <a:t>11/7/2021</a:t>
            </a:fld>
            <a:endParaRPr lang="en-US"/>
          </a:p>
        </p:txBody>
      </p:sp>
      <p:sp>
        <p:nvSpPr>
          <p:cNvPr id="6" name="Footer Placeholder 4"/>
          <p:cNvSpPr>
            <a:spLocks noGrp="1"/>
          </p:cNvSpPr>
          <p:nvPr>
            <p:ph type="ftr" sz="quarter" idx="11"/>
          </p:nvPr>
        </p:nvSpPr>
        <p:spPr/>
        <p:txBody>
          <a:bodyPr/>
          <a:lstStyle>
            <a:lvl1pPr>
              <a:defRPr/>
            </a:lvl1pPr>
          </a:lstStyle>
          <a:p>
            <a:r>
              <a:rPr lang="en-US"/>
              <a:t>Chapter 10 Sociotechnical Systems</a:t>
            </a:r>
          </a:p>
        </p:txBody>
      </p:sp>
      <p:sp>
        <p:nvSpPr>
          <p:cNvPr id="7" name="Slide Number Placeholder 5"/>
          <p:cNvSpPr>
            <a:spLocks noGrp="1"/>
          </p:cNvSpPr>
          <p:nvPr>
            <p:ph type="sldNum" sz="quarter" idx="12"/>
          </p:nvPr>
        </p:nvSpPr>
        <p:spPr/>
        <p:txBody>
          <a:bodyPr/>
          <a:lstStyle>
            <a:lvl1pPr>
              <a:defRPr/>
            </a:lvl1pPr>
          </a:lstStyle>
          <a:p>
            <a:fld id="{A86F8904-DFC0-E240-BFF8-1216C9CAE37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fld id="{EC47C5E5-CF93-411A-855F-61522401C8B4}" type="datetime1">
              <a:rPr lang="en-US" smtClean="0"/>
              <a:t>11/7/2021</a:t>
            </a:fld>
            <a:endParaRPr lang="en-US"/>
          </a:p>
        </p:txBody>
      </p:sp>
      <p:sp>
        <p:nvSpPr>
          <p:cNvPr id="5" name="Footer Placeholder 4"/>
          <p:cNvSpPr>
            <a:spLocks noGrp="1"/>
          </p:cNvSpPr>
          <p:nvPr>
            <p:ph type="ftr" sz="quarter" idx="11"/>
          </p:nvPr>
        </p:nvSpPr>
        <p:spPr/>
        <p:txBody>
          <a:bodyPr/>
          <a:lstStyle>
            <a:lvl1pPr>
              <a:defRPr/>
            </a:lvl1pPr>
          </a:lstStyle>
          <a:p>
            <a:r>
              <a:rPr lang="en-US"/>
              <a:t>Chapter 10 Sociotechnical Systems</a:t>
            </a:r>
          </a:p>
        </p:txBody>
      </p:sp>
      <p:sp>
        <p:nvSpPr>
          <p:cNvPr id="6" name="Slide Number Placeholder 5"/>
          <p:cNvSpPr>
            <a:spLocks noGrp="1"/>
          </p:cNvSpPr>
          <p:nvPr>
            <p:ph type="sldNum" sz="quarter" idx="12"/>
          </p:nvPr>
        </p:nvSpPr>
        <p:spPr/>
        <p:txBody>
          <a:bodyPr/>
          <a:lstStyle>
            <a:lvl1pPr>
              <a:defRPr/>
            </a:lvl1pPr>
          </a:lstStyle>
          <a:p>
            <a:fld id="{A86F8904-DFC0-E240-BFF8-1216C9CAE37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fld id="{96311432-E287-4DB5-931E-13FF74CD3DA5}" type="datetime1">
              <a:rPr lang="en-US" smtClean="0"/>
              <a:t>11/7/2021</a:t>
            </a:fld>
            <a:endParaRPr lang="en-US"/>
          </a:p>
        </p:txBody>
      </p:sp>
      <p:sp>
        <p:nvSpPr>
          <p:cNvPr id="5" name="Footer Placeholder 4"/>
          <p:cNvSpPr>
            <a:spLocks noGrp="1"/>
          </p:cNvSpPr>
          <p:nvPr>
            <p:ph type="ftr" sz="quarter" idx="11"/>
          </p:nvPr>
        </p:nvSpPr>
        <p:spPr/>
        <p:txBody>
          <a:bodyPr/>
          <a:lstStyle>
            <a:lvl1pPr>
              <a:defRPr/>
            </a:lvl1pPr>
          </a:lstStyle>
          <a:p>
            <a:r>
              <a:rPr lang="en-US"/>
              <a:t>Chapter 10 Sociotechnical Systems</a:t>
            </a:r>
          </a:p>
        </p:txBody>
      </p:sp>
      <p:sp>
        <p:nvSpPr>
          <p:cNvPr id="6" name="Slide Number Placeholder 5"/>
          <p:cNvSpPr>
            <a:spLocks noGrp="1"/>
          </p:cNvSpPr>
          <p:nvPr>
            <p:ph type="sldNum" sz="quarter" idx="12"/>
          </p:nvPr>
        </p:nvSpPr>
        <p:spPr/>
        <p:txBody>
          <a:bodyPr/>
          <a:lstStyle>
            <a:lvl1pPr>
              <a:defRPr/>
            </a:lvl1pPr>
          </a:lstStyle>
          <a:p>
            <a:fld id="{A86F8904-DFC0-E240-BFF8-1216C9CAE37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fld id="{AC28BC60-ED3E-483A-A9DB-1C99CD7D9999}" type="datetime1">
              <a:rPr lang="en-US" smtClean="0"/>
              <a:t>11/7/2021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r>
              <a:rPr lang="en-US"/>
              <a:t>Chapter 10 Sociotechnical Systems</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fld id="{A86F8904-DFC0-E240-BFF8-1216C9CAE37B}" type="slidenum">
              <a:rPr lang="en-US" smtClean="0"/>
              <a:pPr/>
              <a:t>‹#›</a:t>
            </a:fld>
            <a:endParaRPr lang="en-US"/>
          </a:p>
        </p:txBody>
      </p:sp>
      <p:pic>
        <p:nvPicPr>
          <p:cNvPr id="7" name="Picture 6" descr="Cover.jpg"/>
          <p:cNvPicPr>
            <a:picLocks noChangeAspect="1"/>
          </p:cNvPicPr>
          <p:nvPr/>
        </p:nvPicPr>
        <p:blipFill>
          <a:blip r:embed="rId13"/>
          <a:stretch>
            <a:fillRect/>
          </a:stretch>
        </p:blipFill>
        <p:spPr>
          <a:xfrm>
            <a:off x="7750432" y="287213"/>
            <a:ext cx="923795" cy="1143000"/>
          </a:xfrm>
          <a:prstGeom prst="rect">
            <a:avLst/>
          </a:prstGeom>
        </p:spPr>
      </p:pic>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US" dirty="0"/>
              <a:t>Chapter 10 – Socio-technical Systems</a:t>
            </a:r>
          </a:p>
        </p:txBody>
      </p:sp>
      <p:sp>
        <p:nvSpPr>
          <p:cNvPr id="3" name="Subtitle 2"/>
          <p:cNvSpPr>
            <a:spLocks noGrp="1"/>
          </p:cNvSpPr>
          <p:nvPr>
            <p:ph type="subTitle" idx="1"/>
          </p:nvPr>
        </p:nvSpPr>
        <p:spPr/>
        <p:txBody>
          <a:bodyPr/>
          <a:lstStyle/>
          <a:p>
            <a:endParaRPr lang="en-US" dirty="0"/>
          </a:p>
          <a:p>
            <a:endParaRPr lang="en-US" dirty="0"/>
          </a:p>
        </p:txBody>
      </p:sp>
      <p:sp>
        <p:nvSpPr>
          <p:cNvPr id="4" name="Slide Number Placeholder 3"/>
          <p:cNvSpPr>
            <a:spLocks noGrp="1"/>
          </p:cNvSpPr>
          <p:nvPr>
            <p:ph type="sldNum" sz="quarter" idx="12"/>
          </p:nvPr>
        </p:nvSpPr>
        <p:spPr/>
        <p:txBody>
          <a:bodyPr/>
          <a:lstStyle/>
          <a:p>
            <a:fld id="{A86F8904-DFC0-E240-BFF8-1216C9CAE37B}" type="slidenum">
              <a:rPr lang="en-US" smtClean="0"/>
              <a:pPr/>
              <a:t>1</a:t>
            </a:fld>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 covered</a:t>
            </a:r>
          </a:p>
        </p:txBody>
      </p:sp>
      <p:sp>
        <p:nvSpPr>
          <p:cNvPr id="3" name="Content Placeholder 2"/>
          <p:cNvSpPr>
            <a:spLocks noGrp="1"/>
          </p:cNvSpPr>
          <p:nvPr>
            <p:ph idx="1"/>
          </p:nvPr>
        </p:nvSpPr>
        <p:spPr/>
        <p:txBody>
          <a:bodyPr/>
          <a:lstStyle/>
          <a:p>
            <a:r>
              <a:rPr lang="en-US" dirty="0"/>
              <a:t>Complex systems</a:t>
            </a:r>
          </a:p>
          <a:p>
            <a:r>
              <a:rPr lang="en-US" dirty="0"/>
              <a:t>Systems engineering</a:t>
            </a:r>
          </a:p>
          <a:p>
            <a:r>
              <a:rPr lang="en-US" dirty="0"/>
              <a:t>Systems procurement</a:t>
            </a:r>
          </a:p>
          <a:p>
            <a:r>
              <a:rPr lang="en-US" dirty="0"/>
              <a:t>System development</a:t>
            </a:r>
          </a:p>
          <a:p>
            <a:r>
              <a:rPr lang="en-US" dirty="0"/>
              <a:t>System operation</a:t>
            </a:r>
          </a:p>
        </p:txBody>
      </p:sp>
      <p:sp>
        <p:nvSpPr>
          <p:cNvPr id="5" name="Slide Number Placeholder 4"/>
          <p:cNvSpPr>
            <a:spLocks noGrp="1"/>
          </p:cNvSpPr>
          <p:nvPr>
            <p:ph type="sldNum" sz="quarter" idx="12"/>
          </p:nvPr>
        </p:nvSpPr>
        <p:spPr/>
        <p:txBody>
          <a:bodyPr/>
          <a:lstStyle/>
          <a:p>
            <a:fld id="{A86F8904-DFC0-E240-BFF8-1216C9CAE37B}"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Systems</a:t>
            </a:r>
          </a:p>
        </p:txBody>
      </p:sp>
      <p:sp>
        <p:nvSpPr>
          <p:cNvPr id="3" name="Content Placeholder 2"/>
          <p:cNvSpPr>
            <a:spLocks noGrp="1"/>
          </p:cNvSpPr>
          <p:nvPr>
            <p:ph idx="1"/>
          </p:nvPr>
        </p:nvSpPr>
        <p:spPr/>
        <p:txBody>
          <a:bodyPr/>
          <a:lstStyle/>
          <a:p>
            <a:r>
              <a:rPr lang="en-US" dirty="0"/>
              <a:t>Software engineering is not an isolated activity but is part of a broader systems engineering process.</a:t>
            </a:r>
          </a:p>
          <a:p>
            <a:r>
              <a:rPr lang="en-US" dirty="0"/>
              <a:t>Software systems are therefore not isolated systems but are essential components of broader systems that have a human, social or organizational purpose.</a:t>
            </a:r>
          </a:p>
          <a:p>
            <a:r>
              <a:rPr lang="en-US" dirty="0"/>
              <a:t>Example</a:t>
            </a:r>
          </a:p>
          <a:p>
            <a:pPr lvl="1"/>
            <a:r>
              <a:rPr lang="en-US" dirty="0"/>
              <a:t>Wilderness weather system is part of broader weather recording and forecasting systems</a:t>
            </a:r>
          </a:p>
          <a:p>
            <a:pPr lvl="1"/>
            <a:r>
              <a:rPr lang="en-US" dirty="0"/>
              <a:t>These include hardware and software, forecasting processes, system users, the organizations that depend on weather forecasts, etc.</a:t>
            </a:r>
          </a:p>
        </p:txBody>
      </p:sp>
      <p:sp>
        <p:nvSpPr>
          <p:cNvPr id="5" name="Slide Number Placeholder 4"/>
          <p:cNvSpPr>
            <a:spLocks noGrp="1"/>
          </p:cNvSpPr>
          <p:nvPr>
            <p:ph type="sldNum" sz="quarter" idx="12"/>
          </p:nvPr>
        </p:nvSpPr>
        <p:spPr/>
        <p:txBody>
          <a:bodyPr/>
          <a:lstStyle/>
          <a:p>
            <a:fld id="{A86F8904-DFC0-E240-BFF8-1216C9CAE37B}"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STS Examples</a:t>
            </a:r>
          </a:p>
        </p:txBody>
      </p:sp>
      <p:sp>
        <p:nvSpPr>
          <p:cNvPr id="4" name="Slide Number Placeholder 3"/>
          <p:cNvSpPr>
            <a:spLocks noGrp="1"/>
          </p:cNvSpPr>
          <p:nvPr>
            <p:ph type="sldNum" sz="quarter" idx="12"/>
          </p:nvPr>
        </p:nvSpPr>
        <p:spPr/>
        <p:txBody>
          <a:bodyPr/>
          <a:lstStyle/>
          <a:p>
            <a:fld id="{A86F8904-DFC0-E240-BFF8-1216C9CAE37B}" type="slidenum">
              <a:rPr lang="en-US" smtClean="0"/>
              <a:pPr/>
              <a:t>4</a:t>
            </a:fld>
            <a:endParaRPr lang="en-US"/>
          </a:p>
        </p:txBody>
      </p:sp>
      <p:pic>
        <p:nvPicPr>
          <p:cNvPr id="1026" name="Picture 2" descr="Image result for socio technical syste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865138"/>
            <a:ext cx="8210711" cy="41473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30825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socio-technical systems stack</a:t>
            </a:r>
            <a:r>
              <a:rPr lang="en-GB" dirty="0"/>
              <a:t> </a:t>
            </a:r>
            <a:endParaRPr lang="en-US" dirty="0"/>
          </a:p>
        </p:txBody>
      </p:sp>
      <p:sp>
        <p:nvSpPr>
          <p:cNvPr id="5" name="Slide Number Placeholder 4"/>
          <p:cNvSpPr>
            <a:spLocks noGrp="1"/>
          </p:cNvSpPr>
          <p:nvPr>
            <p:ph type="sldNum" sz="quarter" idx="12"/>
          </p:nvPr>
        </p:nvSpPr>
        <p:spPr/>
        <p:txBody>
          <a:bodyPr/>
          <a:lstStyle/>
          <a:p>
            <a:fld id="{A86F8904-DFC0-E240-BFF8-1216C9CAE37B}" type="slidenum">
              <a:rPr lang="en-US" smtClean="0"/>
              <a:pPr/>
              <a:t>5</a:t>
            </a:fld>
            <a:endParaRPr lang="en-US"/>
          </a:p>
        </p:txBody>
      </p:sp>
      <p:sp>
        <p:nvSpPr>
          <p:cNvPr id="3" name="Content Placeholder 2"/>
          <p:cNvSpPr>
            <a:spLocks noGrp="1"/>
          </p:cNvSpPr>
          <p:nvPr>
            <p:ph idx="1"/>
          </p:nvPr>
        </p:nvSpPr>
        <p:spPr/>
        <p:txBody>
          <a:bodyPr/>
          <a:lstStyle/>
          <a:p>
            <a:endParaRPr lang="ar-SA"/>
          </a:p>
        </p:txBody>
      </p:sp>
      <p:pic>
        <p:nvPicPr>
          <p:cNvPr id="7" name="Picture 6"/>
          <p:cNvPicPr>
            <a:picLocks noChangeAspect="1"/>
          </p:cNvPicPr>
          <p:nvPr/>
        </p:nvPicPr>
        <p:blipFill>
          <a:blip r:embed="rId2"/>
          <a:stretch>
            <a:fillRect/>
          </a:stretch>
        </p:blipFill>
        <p:spPr>
          <a:xfrm>
            <a:off x="327903" y="1628329"/>
            <a:ext cx="8420314" cy="46729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Layers in the STS stack</a:t>
            </a:r>
          </a:p>
        </p:txBody>
      </p:sp>
      <p:sp>
        <p:nvSpPr>
          <p:cNvPr id="3" name="Content Placeholder 2"/>
          <p:cNvSpPr>
            <a:spLocks noGrp="1"/>
          </p:cNvSpPr>
          <p:nvPr>
            <p:ph idx="1"/>
          </p:nvPr>
        </p:nvSpPr>
        <p:spPr/>
        <p:txBody>
          <a:bodyPr/>
          <a:lstStyle/>
          <a:p>
            <a:r>
              <a:rPr lang="en-US" dirty="0"/>
              <a:t>Equipment</a:t>
            </a:r>
          </a:p>
          <a:p>
            <a:pPr lvl="1"/>
            <a:r>
              <a:rPr lang="en-US" dirty="0"/>
              <a:t>Hardware devices, some of which may be computers. Most devices will include an embedded system of some kind.</a:t>
            </a:r>
          </a:p>
          <a:p>
            <a:r>
              <a:rPr lang="en-US" dirty="0"/>
              <a:t>Operating system</a:t>
            </a:r>
          </a:p>
          <a:p>
            <a:pPr lvl="1"/>
            <a:r>
              <a:rPr lang="en-US" dirty="0"/>
              <a:t>Provides a set of common facilities for higher levels in the system.</a:t>
            </a:r>
          </a:p>
          <a:p>
            <a:r>
              <a:rPr lang="en-US" dirty="0"/>
              <a:t>Communications and data management</a:t>
            </a:r>
          </a:p>
          <a:p>
            <a:pPr lvl="1"/>
            <a:r>
              <a:rPr lang="en-US" dirty="0"/>
              <a:t>Middleware that provides access to remote systems and databases.</a:t>
            </a:r>
          </a:p>
          <a:p>
            <a:r>
              <a:rPr lang="en-US" dirty="0"/>
              <a:t>Application systems</a:t>
            </a:r>
          </a:p>
          <a:p>
            <a:pPr lvl="1"/>
            <a:r>
              <a:rPr lang="en-US" dirty="0"/>
              <a:t>Specific functionality to meet some organization requirements.</a:t>
            </a:r>
          </a:p>
        </p:txBody>
      </p:sp>
      <p:sp>
        <p:nvSpPr>
          <p:cNvPr id="5" name="Slide Number Placeholder 4"/>
          <p:cNvSpPr>
            <a:spLocks noGrp="1"/>
          </p:cNvSpPr>
          <p:nvPr>
            <p:ph type="sldNum" sz="quarter" idx="12"/>
          </p:nvPr>
        </p:nvSpPr>
        <p:spPr/>
        <p:txBody>
          <a:bodyPr/>
          <a:lstStyle/>
          <a:p>
            <a:fld id="{A86F8904-DFC0-E240-BFF8-1216C9CAE37B}"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Layers in the STS stack</a:t>
            </a:r>
          </a:p>
        </p:txBody>
      </p:sp>
      <p:sp>
        <p:nvSpPr>
          <p:cNvPr id="3" name="Content Placeholder 2"/>
          <p:cNvSpPr>
            <a:spLocks noGrp="1"/>
          </p:cNvSpPr>
          <p:nvPr>
            <p:ph idx="1"/>
          </p:nvPr>
        </p:nvSpPr>
        <p:spPr/>
        <p:txBody>
          <a:bodyPr/>
          <a:lstStyle/>
          <a:p>
            <a:r>
              <a:rPr lang="en-US" dirty="0"/>
              <a:t>Business processes</a:t>
            </a:r>
          </a:p>
          <a:p>
            <a:pPr lvl="1"/>
            <a:r>
              <a:rPr lang="en-US" dirty="0"/>
              <a:t>A set of processes involving people and computer systems that support the activities of the business.</a:t>
            </a:r>
          </a:p>
          <a:p>
            <a:r>
              <a:rPr lang="en-US" dirty="0"/>
              <a:t>Organizations</a:t>
            </a:r>
          </a:p>
          <a:p>
            <a:pPr lvl="1"/>
            <a:r>
              <a:rPr lang="en-US" dirty="0"/>
              <a:t>Higher level strategic business activities that affect the operation of the system.</a:t>
            </a:r>
          </a:p>
          <a:p>
            <a:r>
              <a:rPr lang="en-US" dirty="0"/>
              <a:t>Society</a:t>
            </a:r>
          </a:p>
          <a:p>
            <a:pPr lvl="1"/>
            <a:r>
              <a:rPr lang="en-US" dirty="0"/>
              <a:t>Laws, regulation and culture that affect the operation of the system.</a:t>
            </a:r>
          </a:p>
        </p:txBody>
      </p:sp>
      <p:sp>
        <p:nvSpPr>
          <p:cNvPr id="5" name="Slide Number Placeholder 4"/>
          <p:cNvSpPr>
            <a:spLocks noGrp="1"/>
          </p:cNvSpPr>
          <p:nvPr>
            <p:ph type="sldNum" sz="quarter" idx="12"/>
          </p:nvPr>
        </p:nvSpPr>
        <p:spPr/>
        <p:txBody>
          <a:bodyPr/>
          <a:lstStyle/>
          <a:p>
            <a:fld id="{A86F8904-DFC0-E240-BFF8-1216C9CAE37B}"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Holistic system design</a:t>
            </a:r>
          </a:p>
        </p:txBody>
      </p:sp>
      <p:sp>
        <p:nvSpPr>
          <p:cNvPr id="3" name="Content Placeholder 2"/>
          <p:cNvSpPr>
            <a:spLocks noGrp="1"/>
          </p:cNvSpPr>
          <p:nvPr>
            <p:ph idx="1"/>
          </p:nvPr>
        </p:nvSpPr>
        <p:spPr>
          <a:xfrm>
            <a:off x="457200" y="1613848"/>
            <a:ext cx="8229600" cy="4525963"/>
          </a:xfrm>
        </p:spPr>
        <p:txBody>
          <a:bodyPr/>
          <a:lstStyle/>
          <a:p>
            <a:r>
              <a:rPr lang="en-US" dirty="0"/>
              <a:t>There are interactions and dependencies between the layers in a system and changes at one level ripple through the other levels</a:t>
            </a:r>
          </a:p>
          <a:p>
            <a:pPr lvl="1"/>
            <a:r>
              <a:rPr lang="en-US" dirty="0"/>
              <a:t>Example: Change in regulations (society) leads to changes in business processes and application software.</a:t>
            </a:r>
          </a:p>
          <a:p>
            <a:r>
              <a:rPr lang="en-US" dirty="0"/>
              <a:t>For dependability, a systems perspective is essential</a:t>
            </a:r>
          </a:p>
          <a:p>
            <a:pPr lvl="1"/>
            <a:r>
              <a:rPr lang="en-US" dirty="0"/>
              <a:t>Contain software failures within the enclosing layers of the STS stack.</a:t>
            </a:r>
          </a:p>
          <a:p>
            <a:pPr lvl="1"/>
            <a:r>
              <a:rPr lang="en-US" dirty="0"/>
              <a:t>Understand how faults and failures in adjacent layers may affect the software in a system.</a:t>
            </a:r>
          </a:p>
        </p:txBody>
      </p:sp>
      <p:sp>
        <p:nvSpPr>
          <p:cNvPr id="5" name="Slide Number Placeholder 4"/>
          <p:cNvSpPr>
            <a:spLocks noGrp="1"/>
          </p:cNvSpPr>
          <p:nvPr>
            <p:ph type="sldNum" sz="quarter" idx="12"/>
          </p:nvPr>
        </p:nvSpPr>
        <p:spPr/>
        <p:txBody>
          <a:bodyPr/>
          <a:lstStyle/>
          <a:p>
            <a:fld id="{A86F8904-DFC0-E240-BFF8-1216C9CAE37B}" type="slidenum">
              <a:rPr lang="en-US" smtClean="0"/>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noFill/>
          <a:ln/>
        </p:spPr>
        <p:txBody>
          <a:bodyPr/>
          <a:lstStyle/>
          <a:p>
            <a:r>
              <a:rPr lang="en-GB" dirty="0"/>
              <a:t>Complex systems</a:t>
            </a:r>
          </a:p>
        </p:txBody>
      </p:sp>
      <p:sp>
        <p:nvSpPr>
          <p:cNvPr id="9219" name="Rectangle 3"/>
          <p:cNvSpPr>
            <a:spLocks noGrp="1" noChangeArrowheads="1"/>
          </p:cNvSpPr>
          <p:nvPr>
            <p:ph type="body" idx="1"/>
          </p:nvPr>
        </p:nvSpPr>
        <p:spPr>
          <a:xfrm>
            <a:off x="612531" y="1606550"/>
            <a:ext cx="7804638" cy="4129088"/>
          </a:xfrm>
          <a:noFill/>
          <a:ln/>
        </p:spPr>
        <p:txBody>
          <a:bodyPr/>
          <a:lstStyle/>
          <a:p>
            <a:r>
              <a:rPr lang="en-GB" sz="2400" dirty="0"/>
              <a:t>A system is a purposeful collection of inter-related components working together to achieve some common objective. </a:t>
            </a:r>
          </a:p>
          <a:p>
            <a:r>
              <a:rPr lang="en-GB" sz="2400" dirty="0"/>
              <a:t>A system may include software, mechanical, electrical and electronic hardware and be operated by people.</a:t>
            </a:r>
          </a:p>
          <a:p>
            <a:r>
              <a:rPr lang="en-GB" sz="2400" dirty="0"/>
              <a:t>System components are dependent on other </a:t>
            </a:r>
            <a:br>
              <a:rPr lang="en-GB" sz="2400" dirty="0"/>
            </a:br>
            <a:r>
              <a:rPr lang="en-GB" sz="2400" dirty="0"/>
              <a:t>system components.</a:t>
            </a:r>
          </a:p>
          <a:p>
            <a:r>
              <a:rPr lang="en-GB" sz="2400" dirty="0"/>
              <a:t>The properties and behaviour of system components are inextricably inter-mingled. This leads to complexity.</a:t>
            </a:r>
          </a:p>
        </p:txBody>
      </p:sp>
      <p:sp>
        <p:nvSpPr>
          <p:cNvPr id="4" name="Slide Number Placeholder 3"/>
          <p:cNvSpPr>
            <a:spLocks noGrp="1"/>
          </p:cNvSpPr>
          <p:nvPr>
            <p:ph type="sldNum" sz="quarter" idx="12"/>
          </p:nvPr>
        </p:nvSpPr>
        <p:spPr>
          <a:xfrm>
            <a:off x="6553200" y="6356350"/>
            <a:ext cx="2133600" cy="365125"/>
          </a:xfrm>
        </p:spPr>
        <p:txBody>
          <a:bodyPr/>
          <a:lstStyle/>
          <a:p>
            <a:fld id="{CB2BAAA0-0788-4192-AC37-81E2F51364E5}" type="slidenum">
              <a:rPr lang="en-US" smtClean="0"/>
              <a:t>9</a:t>
            </a:fld>
            <a:endParaRPr lang="en-US" dirty="0"/>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noFill/>
          <a:ln/>
        </p:spPr>
        <p:txBody>
          <a:bodyPr/>
          <a:lstStyle/>
          <a:p>
            <a:r>
              <a:rPr lang="en-GB"/>
              <a:t>System categories</a:t>
            </a:r>
          </a:p>
        </p:txBody>
      </p:sp>
      <p:sp>
        <p:nvSpPr>
          <p:cNvPr id="11267" name="Rectangle 3"/>
          <p:cNvSpPr>
            <a:spLocks noGrp="1" noChangeArrowheads="1"/>
          </p:cNvSpPr>
          <p:nvPr>
            <p:ph type="body" idx="1"/>
          </p:nvPr>
        </p:nvSpPr>
        <p:spPr>
          <a:noFill/>
          <a:ln/>
        </p:spPr>
        <p:txBody>
          <a:bodyPr/>
          <a:lstStyle/>
          <a:p>
            <a:pPr>
              <a:lnSpc>
                <a:spcPct val="90000"/>
              </a:lnSpc>
            </a:pPr>
            <a:r>
              <a:rPr lang="en-GB" dirty="0"/>
              <a:t>Technical computer-based systems</a:t>
            </a:r>
          </a:p>
          <a:p>
            <a:pPr lvl="1">
              <a:lnSpc>
                <a:spcPct val="90000"/>
              </a:lnSpc>
            </a:pPr>
            <a:r>
              <a:rPr lang="en-GB" dirty="0"/>
              <a:t>Systems that include hardware and software but where the operators and operational processes are not normally considered to be part of the system. The system is not self-aware.</a:t>
            </a:r>
          </a:p>
          <a:p>
            <a:pPr lvl="1">
              <a:lnSpc>
                <a:spcPct val="90000"/>
              </a:lnSpc>
            </a:pPr>
            <a:r>
              <a:rPr lang="en-GB" dirty="0"/>
              <a:t>Example: A word processor used to write a book.</a:t>
            </a:r>
          </a:p>
          <a:p>
            <a:pPr>
              <a:lnSpc>
                <a:spcPct val="90000"/>
              </a:lnSpc>
            </a:pPr>
            <a:r>
              <a:rPr lang="en-GB" dirty="0"/>
              <a:t>Socio-technical systems</a:t>
            </a:r>
          </a:p>
          <a:p>
            <a:pPr lvl="1">
              <a:lnSpc>
                <a:spcPct val="90000"/>
              </a:lnSpc>
            </a:pPr>
            <a:r>
              <a:rPr lang="en-GB" dirty="0"/>
              <a:t>Systems that include technical systems but also operational processes and people who use and interact with the technical system. Socio-technical systems are governed by organisational policies and rules.</a:t>
            </a:r>
          </a:p>
          <a:p>
            <a:pPr lvl="1">
              <a:lnSpc>
                <a:spcPct val="90000"/>
              </a:lnSpc>
            </a:pPr>
            <a:r>
              <a:rPr lang="en-GB" dirty="0"/>
              <a:t>Example: A publishing system to produce a book.</a:t>
            </a:r>
          </a:p>
        </p:txBody>
      </p:sp>
      <p:sp>
        <p:nvSpPr>
          <p:cNvPr id="4" name="Slide Number Placeholder 3"/>
          <p:cNvSpPr>
            <a:spLocks noGrp="1"/>
          </p:cNvSpPr>
          <p:nvPr>
            <p:ph type="sldNum" sz="quarter" idx="12"/>
          </p:nvPr>
        </p:nvSpPr>
        <p:spPr>
          <a:xfrm>
            <a:off x="6553200" y="6356350"/>
            <a:ext cx="2133600" cy="365125"/>
          </a:xfrm>
        </p:spPr>
        <p:txBody>
          <a:bodyPr/>
          <a:lstStyle/>
          <a:p>
            <a:r>
              <a:rPr lang="en-US" dirty="0"/>
              <a:t>9</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Organizational affects</a:t>
            </a:r>
          </a:p>
        </p:txBody>
      </p:sp>
      <p:sp>
        <p:nvSpPr>
          <p:cNvPr id="3" name="Content Placeholder 2"/>
          <p:cNvSpPr>
            <a:spLocks noGrp="1"/>
          </p:cNvSpPr>
          <p:nvPr>
            <p:ph idx="1"/>
          </p:nvPr>
        </p:nvSpPr>
        <p:spPr/>
        <p:txBody>
          <a:bodyPr/>
          <a:lstStyle/>
          <a:p>
            <a:r>
              <a:rPr lang="en-US" dirty="0"/>
              <a:t>Process changes</a:t>
            </a:r>
          </a:p>
          <a:p>
            <a:pPr lvl="1"/>
            <a:r>
              <a:rPr lang="en-US" dirty="0"/>
              <a:t>Systems may require changes to business processes so training may be required. Significant changes may be resisted by users.</a:t>
            </a:r>
          </a:p>
          <a:p>
            <a:r>
              <a:rPr lang="en-US" dirty="0"/>
              <a:t>Job changes</a:t>
            </a:r>
          </a:p>
          <a:p>
            <a:pPr lvl="1"/>
            <a:r>
              <a:rPr lang="en-US" dirty="0"/>
              <a:t>Systems may de-skill users or cause changes to the way they work. The status of individuals in an organization may be affected by the introduction of a new system.</a:t>
            </a:r>
          </a:p>
          <a:p>
            <a:r>
              <a:rPr lang="en-US" dirty="0"/>
              <a:t>Organizational changes</a:t>
            </a:r>
          </a:p>
          <a:p>
            <a:pPr lvl="1"/>
            <a:r>
              <a:rPr lang="en-US" dirty="0"/>
              <a:t>Systems may change the political power structure in an organization. If an organization depends on a system then those that control the system have more power.</a:t>
            </a:r>
          </a:p>
        </p:txBody>
      </p:sp>
      <p:sp>
        <p:nvSpPr>
          <p:cNvPr id="5" name="Slide Number Placeholder 4"/>
          <p:cNvSpPr>
            <a:spLocks noGrp="1"/>
          </p:cNvSpPr>
          <p:nvPr>
            <p:ph type="sldNum" sz="quarter" idx="12"/>
          </p:nvPr>
        </p:nvSpPr>
        <p:spPr/>
        <p:txBody>
          <a:bodyPr/>
          <a:lstStyle/>
          <a:p>
            <a:fld id="{A86F8904-DFC0-E240-BFF8-1216C9CAE37B}" type="slidenum">
              <a:rPr lang="en-US" smtClean="0"/>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381000" y="263526"/>
            <a:ext cx="8475785" cy="1108075"/>
          </a:xfrm>
          <a:noFill/>
          <a:ln/>
        </p:spPr>
        <p:txBody>
          <a:bodyPr/>
          <a:lstStyle/>
          <a:p>
            <a:r>
              <a:rPr lang="en-GB"/>
              <a:t>Socio-technical system characteristics</a:t>
            </a:r>
          </a:p>
        </p:txBody>
      </p:sp>
      <p:sp>
        <p:nvSpPr>
          <p:cNvPr id="13315" name="Rectangle 3"/>
          <p:cNvSpPr>
            <a:spLocks noGrp="1" noChangeArrowheads="1"/>
          </p:cNvSpPr>
          <p:nvPr>
            <p:ph type="body" idx="1"/>
          </p:nvPr>
        </p:nvSpPr>
        <p:spPr>
          <a:noFill/>
          <a:ln/>
        </p:spPr>
        <p:txBody>
          <a:bodyPr/>
          <a:lstStyle/>
          <a:p>
            <a:r>
              <a:rPr lang="en-GB" sz="2400"/>
              <a:t>Emergent properties</a:t>
            </a:r>
          </a:p>
          <a:p>
            <a:pPr lvl="1"/>
            <a:r>
              <a:rPr lang="en-GB" sz="2000"/>
              <a:t>Properties of the system of a whole that depend on the system components and their relationships.</a:t>
            </a:r>
          </a:p>
          <a:p>
            <a:r>
              <a:rPr lang="en-GB" sz="2400"/>
              <a:t>Non-deterministic</a:t>
            </a:r>
          </a:p>
          <a:p>
            <a:pPr lvl="1"/>
            <a:r>
              <a:rPr lang="en-GB" sz="2000"/>
              <a:t>They do not always produce the same output when presented with the same input because the systems’s behaviour is partially dependent on human operators.</a:t>
            </a:r>
          </a:p>
          <a:p>
            <a:r>
              <a:rPr lang="en-GB" sz="2400"/>
              <a:t>Complex relationships with organisational objectives</a:t>
            </a:r>
          </a:p>
          <a:p>
            <a:pPr lvl="1"/>
            <a:r>
              <a:rPr lang="en-GB" sz="2000"/>
              <a:t>The extent to which the system supports organisational objectives does not just depend on the system itself.</a:t>
            </a:r>
          </a:p>
        </p:txBody>
      </p:sp>
      <p:sp>
        <p:nvSpPr>
          <p:cNvPr id="2" name="Slide Number Placeholder 1"/>
          <p:cNvSpPr>
            <a:spLocks noGrp="1"/>
          </p:cNvSpPr>
          <p:nvPr>
            <p:ph type="sldNum" sz="quarter" idx="12"/>
          </p:nvPr>
        </p:nvSpPr>
        <p:spPr/>
        <p:txBody>
          <a:bodyPr/>
          <a:lstStyle/>
          <a:p>
            <a:fld id="{A86F8904-DFC0-E240-BFF8-1216C9CAE37B}" type="slidenum">
              <a:rPr lang="en-US" smtClean="0"/>
              <a:pPr/>
              <a:t>12</a:t>
            </a:fld>
            <a:endParaRPr lang="en-US"/>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r>
              <a:rPr lang="en-GB"/>
              <a:t>Emergent properties</a:t>
            </a:r>
          </a:p>
        </p:txBody>
      </p:sp>
      <p:sp>
        <p:nvSpPr>
          <p:cNvPr id="74755" name="Rectangle 3"/>
          <p:cNvSpPr>
            <a:spLocks noGrp="1" noChangeArrowheads="1"/>
          </p:cNvSpPr>
          <p:nvPr>
            <p:ph type="body" idx="1"/>
          </p:nvPr>
        </p:nvSpPr>
        <p:spPr/>
        <p:txBody>
          <a:bodyPr/>
          <a:lstStyle/>
          <a:p>
            <a:r>
              <a:rPr lang="en-GB"/>
              <a:t>Properties of the system as a whole rather than properties that can be derived from the properties of components of a system</a:t>
            </a:r>
          </a:p>
          <a:p>
            <a:r>
              <a:rPr lang="en-GB"/>
              <a:t>Emergent properties are a consequence of the relationships between system components</a:t>
            </a:r>
          </a:p>
          <a:p>
            <a:r>
              <a:rPr lang="en-GB"/>
              <a:t>They can therefore only be assessed and measured once the components have been integrated into a system</a:t>
            </a:r>
          </a:p>
        </p:txBody>
      </p:sp>
      <p:sp>
        <p:nvSpPr>
          <p:cNvPr id="2" name="Slide Number Placeholder 1"/>
          <p:cNvSpPr>
            <a:spLocks noGrp="1"/>
          </p:cNvSpPr>
          <p:nvPr>
            <p:ph type="sldNum" sz="quarter" idx="12"/>
          </p:nvPr>
        </p:nvSpPr>
        <p:spPr/>
        <p:txBody>
          <a:bodyPr/>
          <a:lstStyle/>
          <a:p>
            <a:fld id="{A86F8904-DFC0-E240-BFF8-1216C9CAE37B}" type="slidenum">
              <a:rPr lang="en-US" smtClean="0"/>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1128"/>
            <a:ext cx="8229600" cy="1143000"/>
          </a:xfrm>
        </p:spPr>
        <p:txBody>
          <a:bodyPr/>
          <a:lstStyle/>
          <a:p>
            <a:r>
              <a:rPr lang="en-US" dirty="0"/>
              <a:t>Examples</a:t>
            </a:r>
            <a:r>
              <a:rPr lang="en-US" b="1" dirty="0"/>
              <a:t> </a:t>
            </a:r>
            <a:r>
              <a:rPr lang="en-US" dirty="0"/>
              <a:t>of</a:t>
            </a:r>
            <a:r>
              <a:rPr lang="en-US" b="1" dirty="0"/>
              <a:t> </a:t>
            </a:r>
            <a:r>
              <a:rPr lang="en-US" dirty="0"/>
              <a:t>emergent properties</a:t>
            </a:r>
            <a:r>
              <a:rPr lang="en-GB" dirty="0"/>
              <a:t> </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387766525"/>
              </p:ext>
            </p:extLst>
          </p:nvPr>
        </p:nvGraphicFramePr>
        <p:xfrm>
          <a:off x="257175" y="1628777"/>
          <a:ext cx="8429625" cy="4149653"/>
        </p:xfrm>
        <a:graphic>
          <a:graphicData uri="http://schemas.openxmlformats.org/drawingml/2006/table">
            <a:tbl>
              <a:tblPr firstRow="1" bandRow="1">
                <a:tableStyleId>{5C22544A-7EE6-4342-B048-85BDC9FD1C3A}</a:tableStyleId>
              </a:tblPr>
              <a:tblGrid>
                <a:gridCol w="1995215">
                  <a:extLst>
                    <a:ext uri="{9D8B030D-6E8A-4147-A177-3AD203B41FA5}">
                      <a16:colId xmlns:a16="http://schemas.microsoft.com/office/drawing/2014/main" val="20000"/>
                    </a:ext>
                  </a:extLst>
                </a:gridCol>
                <a:gridCol w="6434410">
                  <a:extLst>
                    <a:ext uri="{9D8B030D-6E8A-4147-A177-3AD203B41FA5}">
                      <a16:colId xmlns:a16="http://schemas.microsoft.com/office/drawing/2014/main" val="20001"/>
                    </a:ext>
                  </a:extLst>
                </a:gridCol>
              </a:tblGrid>
              <a:tr h="510653">
                <a:tc>
                  <a:txBody>
                    <a:bodyPr/>
                    <a:lstStyle/>
                    <a:p>
                      <a:pPr algn="just">
                        <a:spcAft>
                          <a:spcPts val="0"/>
                        </a:spcAft>
                      </a:pPr>
                      <a:r>
                        <a:rPr lang="en-GB" sz="1400" b="1" dirty="0">
                          <a:solidFill>
                            <a:schemeClr val="bg1"/>
                          </a:solidFill>
                          <a:latin typeface="Arial"/>
                          <a:ea typeface="Times New Roman"/>
                          <a:cs typeface="Arial"/>
                        </a:rPr>
                        <a:t>Property</a:t>
                      </a:r>
                    </a:p>
                  </a:txBody>
                  <a:tcPr marL="73025" marR="73025" marT="91440" marB="91440"/>
                </a:tc>
                <a:tc>
                  <a:txBody>
                    <a:bodyPr/>
                    <a:lstStyle/>
                    <a:p>
                      <a:pPr algn="just">
                        <a:spcAft>
                          <a:spcPts val="0"/>
                        </a:spcAft>
                      </a:pPr>
                      <a:r>
                        <a:rPr lang="en-GB" sz="1400" b="1" dirty="0">
                          <a:solidFill>
                            <a:schemeClr val="bg1"/>
                          </a:solidFill>
                          <a:latin typeface="Arial"/>
                          <a:ea typeface="Times New Roman"/>
                          <a:cs typeface="Arial"/>
                        </a:rPr>
                        <a:t>Description</a:t>
                      </a:r>
                    </a:p>
                  </a:txBody>
                  <a:tcPr marL="73025" marR="73025" marT="91440" marB="91440"/>
                </a:tc>
                <a:extLst>
                  <a:ext uri="{0D108BD9-81ED-4DB2-BD59-A6C34878D82A}">
                    <a16:rowId xmlns:a16="http://schemas.microsoft.com/office/drawing/2014/main" val="10000"/>
                  </a:ext>
                </a:extLst>
              </a:tr>
              <a:tr h="547460">
                <a:tc>
                  <a:txBody>
                    <a:bodyPr/>
                    <a:lstStyle/>
                    <a:p>
                      <a:pPr algn="just">
                        <a:spcAft>
                          <a:spcPts val="0"/>
                        </a:spcAft>
                      </a:pPr>
                      <a:r>
                        <a:rPr lang="en-GB" sz="1400" dirty="0">
                          <a:solidFill>
                            <a:srgbClr val="000000"/>
                          </a:solidFill>
                          <a:latin typeface="Arial"/>
                          <a:ea typeface="Times New Roman"/>
                          <a:cs typeface="Arial"/>
                        </a:rPr>
                        <a:t>Volume</a:t>
                      </a:r>
                    </a:p>
                  </a:txBody>
                  <a:tcPr marL="73025" marR="73025" marT="0" marB="91440"/>
                </a:tc>
                <a:tc>
                  <a:txBody>
                    <a:bodyPr/>
                    <a:lstStyle/>
                    <a:p>
                      <a:pPr algn="just">
                        <a:spcAft>
                          <a:spcPts val="0"/>
                        </a:spcAft>
                      </a:pPr>
                      <a:r>
                        <a:rPr lang="en-GB" sz="1400">
                          <a:solidFill>
                            <a:srgbClr val="000000"/>
                          </a:solidFill>
                          <a:latin typeface="Arial"/>
                          <a:ea typeface="Times New Roman"/>
                          <a:cs typeface="Arial"/>
                        </a:rPr>
                        <a:t>The volume of a system (the total space occupied) varies depending on how the component assemblies are arranged and connected.</a:t>
                      </a:r>
                    </a:p>
                  </a:txBody>
                  <a:tcPr marL="73025" marR="73025" marT="0" marB="91440"/>
                </a:tc>
                <a:extLst>
                  <a:ext uri="{0D108BD9-81ED-4DB2-BD59-A6C34878D82A}">
                    <a16:rowId xmlns:a16="http://schemas.microsoft.com/office/drawing/2014/main" val="10001"/>
                  </a:ext>
                </a:extLst>
              </a:tr>
              <a:tr h="772885">
                <a:tc>
                  <a:txBody>
                    <a:bodyPr/>
                    <a:lstStyle/>
                    <a:p>
                      <a:pPr algn="just">
                        <a:spcAft>
                          <a:spcPts val="0"/>
                        </a:spcAft>
                      </a:pPr>
                      <a:r>
                        <a:rPr lang="en-GB" sz="1400" dirty="0">
                          <a:solidFill>
                            <a:srgbClr val="000000"/>
                          </a:solidFill>
                          <a:latin typeface="Arial"/>
                          <a:ea typeface="Times New Roman"/>
                          <a:cs typeface="Arial"/>
                        </a:rPr>
                        <a:t>Reliability</a:t>
                      </a:r>
                    </a:p>
                  </a:txBody>
                  <a:tcPr marL="73025" marR="73025" marT="0" marB="91440"/>
                </a:tc>
                <a:tc>
                  <a:txBody>
                    <a:bodyPr/>
                    <a:lstStyle/>
                    <a:p>
                      <a:pPr algn="just">
                        <a:spcAft>
                          <a:spcPts val="0"/>
                        </a:spcAft>
                      </a:pPr>
                      <a:r>
                        <a:rPr lang="en-GB" sz="1400" dirty="0">
                          <a:solidFill>
                            <a:srgbClr val="000000"/>
                          </a:solidFill>
                          <a:latin typeface="Arial"/>
                          <a:ea typeface="Times New Roman"/>
                          <a:cs typeface="Arial"/>
                        </a:rPr>
                        <a:t>System reliability depends on component reliability but unexpected interactions can cause new types of failures and therefore affect the reliability of the system.</a:t>
                      </a:r>
                    </a:p>
                  </a:txBody>
                  <a:tcPr marL="73025" marR="73025" marT="0" marB="91440"/>
                </a:tc>
                <a:extLst>
                  <a:ext uri="{0D108BD9-81ED-4DB2-BD59-A6C34878D82A}">
                    <a16:rowId xmlns:a16="http://schemas.microsoft.com/office/drawing/2014/main" val="10002"/>
                  </a:ext>
                </a:extLst>
              </a:tr>
              <a:tr h="772885">
                <a:tc>
                  <a:txBody>
                    <a:bodyPr/>
                    <a:lstStyle/>
                    <a:p>
                      <a:pPr algn="just">
                        <a:spcAft>
                          <a:spcPts val="0"/>
                        </a:spcAft>
                      </a:pPr>
                      <a:r>
                        <a:rPr lang="en-GB" sz="1400">
                          <a:solidFill>
                            <a:srgbClr val="000000"/>
                          </a:solidFill>
                          <a:latin typeface="Arial"/>
                          <a:ea typeface="Times New Roman"/>
                          <a:cs typeface="Arial"/>
                        </a:rPr>
                        <a:t>Security</a:t>
                      </a:r>
                    </a:p>
                  </a:txBody>
                  <a:tcPr marL="73025" marR="73025" marT="0" marB="91440"/>
                </a:tc>
                <a:tc>
                  <a:txBody>
                    <a:bodyPr/>
                    <a:lstStyle/>
                    <a:p>
                      <a:pPr algn="just">
                        <a:spcAft>
                          <a:spcPts val="0"/>
                        </a:spcAft>
                      </a:pPr>
                      <a:r>
                        <a:rPr lang="en-GB" sz="1400" dirty="0">
                          <a:solidFill>
                            <a:srgbClr val="000000"/>
                          </a:solidFill>
                          <a:latin typeface="Arial"/>
                          <a:ea typeface="Times New Roman"/>
                          <a:cs typeface="Arial"/>
                        </a:rPr>
                        <a:t>The security of the system (its ability to resist attack) is a complex property that cannot be easily measured. Attacks may be devised that were not anticipated by the system designers and so may defeat built-in safeguards.</a:t>
                      </a:r>
                    </a:p>
                  </a:txBody>
                  <a:tcPr marL="73025" marR="73025" marT="0" marB="91440"/>
                </a:tc>
                <a:extLst>
                  <a:ext uri="{0D108BD9-81ED-4DB2-BD59-A6C34878D82A}">
                    <a16:rowId xmlns:a16="http://schemas.microsoft.com/office/drawing/2014/main" val="10003"/>
                  </a:ext>
                </a:extLst>
              </a:tr>
              <a:tr h="998310">
                <a:tc>
                  <a:txBody>
                    <a:bodyPr/>
                    <a:lstStyle/>
                    <a:p>
                      <a:pPr algn="just">
                        <a:spcAft>
                          <a:spcPts val="0"/>
                        </a:spcAft>
                      </a:pPr>
                      <a:r>
                        <a:rPr lang="en-GB" sz="1400">
                          <a:solidFill>
                            <a:srgbClr val="000000"/>
                          </a:solidFill>
                          <a:latin typeface="Arial"/>
                          <a:ea typeface="Times New Roman"/>
                          <a:cs typeface="Arial"/>
                        </a:rPr>
                        <a:t>Repairability</a:t>
                      </a:r>
                    </a:p>
                  </a:txBody>
                  <a:tcPr marL="73025" marR="73025" marT="0" marB="91440"/>
                </a:tc>
                <a:tc>
                  <a:txBody>
                    <a:bodyPr/>
                    <a:lstStyle/>
                    <a:p>
                      <a:pPr algn="just">
                        <a:spcAft>
                          <a:spcPts val="0"/>
                        </a:spcAft>
                      </a:pPr>
                      <a:r>
                        <a:rPr lang="en-GB" sz="1400" dirty="0">
                          <a:solidFill>
                            <a:srgbClr val="000000"/>
                          </a:solidFill>
                          <a:latin typeface="Arial"/>
                          <a:ea typeface="Times New Roman"/>
                          <a:cs typeface="Arial"/>
                        </a:rPr>
                        <a:t>This property reflects how easy it is to fix a problem with the system once it has been discovered. It depends on being able to diagnose the problem, access the components that are faulty, and modify or replace these components.</a:t>
                      </a:r>
                    </a:p>
                  </a:txBody>
                  <a:tcPr marL="73025" marR="73025" marT="0" marB="91440"/>
                </a:tc>
                <a:extLst>
                  <a:ext uri="{0D108BD9-81ED-4DB2-BD59-A6C34878D82A}">
                    <a16:rowId xmlns:a16="http://schemas.microsoft.com/office/drawing/2014/main" val="10004"/>
                  </a:ext>
                </a:extLst>
              </a:tr>
              <a:tr h="547460">
                <a:tc>
                  <a:txBody>
                    <a:bodyPr/>
                    <a:lstStyle/>
                    <a:p>
                      <a:pPr algn="just">
                        <a:spcAft>
                          <a:spcPts val="0"/>
                        </a:spcAft>
                      </a:pPr>
                      <a:r>
                        <a:rPr lang="en-GB" sz="1400">
                          <a:solidFill>
                            <a:srgbClr val="000000"/>
                          </a:solidFill>
                          <a:latin typeface="Arial"/>
                          <a:ea typeface="Times New Roman"/>
                          <a:cs typeface="Arial"/>
                        </a:rPr>
                        <a:t>Usability</a:t>
                      </a:r>
                    </a:p>
                  </a:txBody>
                  <a:tcPr marL="73025" marR="73025" marT="0" marB="91440"/>
                </a:tc>
                <a:tc>
                  <a:txBody>
                    <a:bodyPr/>
                    <a:lstStyle/>
                    <a:p>
                      <a:pPr algn="just">
                        <a:spcAft>
                          <a:spcPts val="0"/>
                        </a:spcAft>
                      </a:pPr>
                      <a:r>
                        <a:rPr lang="en-GB" sz="1400" dirty="0">
                          <a:solidFill>
                            <a:srgbClr val="000000"/>
                          </a:solidFill>
                          <a:latin typeface="Arial"/>
                          <a:ea typeface="Times New Roman"/>
                          <a:cs typeface="Arial"/>
                        </a:rPr>
                        <a:t>This property reflects how easy it is to use the system. It depends on the technical system components, its operators, and its operating environment.</a:t>
                      </a:r>
                    </a:p>
                  </a:txBody>
                  <a:tcPr marL="73025" marR="73025" marT="0" marB="91440"/>
                </a:tc>
                <a:extLst>
                  <a:ext uri="{0D108BD9-81ED-4DB2-BD59-A6C34878D82A}">
                    <a16:rowId xmlns:a16="http://schemas.microsoft.com/office/drawing/2014/main" val="10005"/>
                  </a:ext>
                </a:extLst>
              </a:tr>
            </a:tbl>
          </a:graphicData>
        </a:graphic>
      </p:graphicFrame>
      <p:sp>
        <p:nvSpPr>
          <p:cNvPr id="5" name="Slide Number Placeholder 4"/>
          <p:cNvSpPr>
            <a:spLocks noGrp="1"/>
          </p:cNvSpPr>
          <p:nvPr>
            <p:ph type="sldNum" sz="quarter" idx="12"/>
          </p:nvPr>
        </p:nvSpPr>
        <p:spPr/>
        <p:txBody>
          <a:bodyPr/>
          <a:lstStyle/>
          <a:p>
            <a:fld id="{A86F8904-DFC0-E240-BFF8-1216C9CAE37B}" type="slidenum">
              <a:rPr lang="en-US" smtClean="0"/>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r>
              <a:rPr lang="en-GB"/>
              <a:t>Types of emergent property</a:t>
            </a:r>
          </a:p>
        </p:txBody>
      </p:sp>
      <p:sp>
        <p:nvSpPr>
          <p:cNvPr id="75779" name="Rectangle 3"/>
          <p:cNvSpPr>
            <a:spLocks noGrp="1" noChangeArrowheads="1"/>
          </p:cNvSpPr>
          <p:nvPr>
            <p:ph type="body" idx="1"/>
          </p:nvPr>
        </p:nvSpPr>
        <p:spPr/>
        <p:txBody>
          <a:bodyPr/>
          <a:lstStyle/>
          <a:p>
            <a:pPr algn="just">
              <a:spcBef>
                <a:spcPts val="625"/>
              </a:spcBef>
              <a:spcAft>
                <a:spcPts val="625"/>
              </a:spcAft>
            </a:pPr>
            <a:r>
              <a:rPr lang="en-GB" sz="2400"/>
              <a:t>Functional properties </a:t>
            </a:r>
          </a:p>
          <a:p>
            <a:pPr lvl="1" algn="just">
              <a:spcBef>
                <a:spcPts val="625"/>
              </a:spcBef>
              <a:spcAft>
                <a:spcPts val="625"/>
              </a:spcAft>
            </a:pPr>
            <a:r>
              <a:rPr lang="en-GB" sz="2000"/>
              <a:t>These appear when all the parts of a system work together to achieve some objective. For example, a bicycle has the functional property of being a transportation device once it has been assembled from its components.</a:t>
            </a:r>
          </a:p>
          <a:p>
            <a:pPr algn="just"/>
            <a:r>
              <a:rPr lang="en-GB" sz="2400"/>
              <a:t>Non-functional emergent properties</a:t>
            </a:r>
          </a:p>
          <a:p>
            <a:pPr lvl="1" algn="just"/>
            <a:r>
              <a:rPr lang="en-GB" sz="2000"/>
              <a:t>Examples are reliability, performance, safety, and security. These relate to the behaviour of the system in its operational environment. They are often critical for computer-based systems as failure to achieve some minimal defined level in these properties may make the system unusable.</a:t>
            </a:r>
          </a:p>
        </p:txBody>
      </p:sp>
      <p:sp>
        <p:nvSpPr>
          <p:cNvPr id="2" name="Slide Number Placeholder 1"/>
          <p:cNvSpPr>
            <a:spLocks noGrp="1"/>
          </p:cNvSpPr>
          <p:nvPr>
            <p:ph type="sldNum" sz="quarter" idx="12"/>
          </p:nvPr>
        </p:nvSpPr>
        <p:spPr/>
        <p:txBody>
          <a:bodyPr/>
          <a:lstStyle/>
          <a:p>
            <a:fld id="{A86F8904-DFC0-E240-BFF8-1216C9CAE37B}"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body" idx="1"/>
          </p:nvPr>
        </p:nvSpPr>
        <p:spPr>
          <a:noFill/>
          <a:ln/>
        </p:spPr>
        <p:txBody>
          <a:bodyPr/>
          <a:lstStyle/>
          <a:p>
            <a:pPr>
              <a:lnSpc>
                <a:spcPct val="90000"/>
              </a:lnSpc>
            </a:pPr>
            <a:r>
              <a:rPr lang="en-GB" dirty="0"/>
              <a:t>Because of component inter-dependencies, </a:t>
            </a:r>
            <a:br>
              <a:rPr lang="en-GB" dirty="0"/>
            </a:br>
            <a:r>
              <a:rPr lang="en-GB" dirty="0"/>
              <a:t>faults can be propagated through the system.</a:t>
            </a:r>
          </a:p>
          <a:p>
            <a:pPr>
              <a:lnSpc>
                <a:spcPct val="90000"/>
              </a:lnSpc>
            </a:pPr>
            <a:r>
              <a:rPr lang="en-GB" dirty="0"/>
              <a:t>System failures often occur because of </a:t>
            </a:r>
            <a:br>
              <a:rPr lang="en-GB" dirty="0"/>
            </a:br>
            <a:r>
              <a:rPr lang="en-GB" dirty="0"/>
              <a:t>unforeseen inter-relationships between </a:t>
            </a:r>
            <a:br>
              <a:rPr lang="en-GB" dirty="0"/>
            </a:br>
            <a:r>
              <a:rPr lang="en-GB" dirty="0"/>
              <a:t>components.</a:t>
            </a:r>
          </a:p>
          <a:p>
            <a:pPr>
              <a:lnSpc>
                <a:spcPct val="90000"/>
              </a:lnSpc>
            </a:pPr>
            <a:r>
              <a:rPr lang="en-GB" dirty="0"/>
              <a:t>It is practically impossible to anticipate all </a:t>
            </a:r>
            <a:br>
              <a:rPr lang="en-GB" dirty="0"/>
            </a:br>
            <a:r>
              <a:rPr lang="en-GB" dirty="0"/>
              <a:t>possible component relationships.</a:t>
            </a:r>
          </a:p>
          <a:p>
            <a:pPr>
              <a:lnSpc>
                <a:spcPct val="90000"/>
              </a:lnSpc>
            </a:pPr>
            <a:r>
              <a:rPr lang="en-GB" dirty="0"/>
              <a:t>Software reliability measures may give a false </a:t>
            </a:r>
            <a:br>
              <a:rPr lang="en-GB" dirty="0"/>
            </a:br>
            <a:r>
              <a:rPr lang="en-GB" dirty="0"/>
              <a:t>picture of the overall system reliability.</a:t>
            </a:r>
          </a:p>
        </p:txBody>
      </p:sp>
      <p:sp>
        <p:nvSpPr>
          <p:cNvPr id="54275" name="Rectangle 3"/>
          <p:cNvSpPr>
            <a:spLocks noGrp="1" noChangeArrowheads="1"/>
          </p:cNvSpPr>
          <p:nvPr>
            <p:ph type="title"/>
          </p:nvPr>
        </p:nvSpPr>
        <p:spPr>
          <a:noFill/>
          <a:ln/>
        </p:spPr>
        <p:txBody>
          <a:bodyPr/>
          <a:lstStyle/>
          <a:p>
            <a:r>
              <a:rPr lang="en-GB" dirty="0"/>
              <a:t>Reliability as an emergent property</a:t>
            </a:r>
          </a:p>
        </p:txBody>
      </p:sp>
      <p:sp>
        <p:nvSpPr>
          <p:cNvPr id="2" name="Slide Number Placeholder 1"/>
          <p:cNvSpPr>
            <a:spLocks noGrp="1"/>
          </p:cNvSpPr>
          <p:nvPr>
            <p:ph type="sldNum" sz="quarter" idx="12"/>
          </p:nvPr>
        </p:nvSpPr>
        <p:spPr/>
        <p:txBody>
          <a:bodyPr/>
          <a:lstStyle/>
          <a:p>
            <a:fld id="{A86F8904-DFC0-E240-BFF8-1216C9CAE37B}" type="slidenum">
              <a:rPr lang="en-US" smtClean="0"/>
              <a:pPr/>
              <a:t>16</a:t>
            </a:fld>
            <a:endParaRPr lang="en-US"/>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body" idx="1"/>
          </p:nvPr>
        </p:nvSpPr>
        <p:spPr>
          <a:noFill/>
          <a:ln/>
        </p:spPr>
        <p:txBody>
          <a:bodyPr/>
          <a:lstStyle/>
          <a:p>
            <a:pPr algn="just">
              <a:spcBef>
                <a:spcPts val="625"/>
              </a:spcBef>
              <a:spcAft>
                <a:spcPts val="625"/>
              </a:spcAft>
            </a:pPr>
            <a:r>
              <a:rPr lang="en-GB" sz="2400" i="1" dirty="0"/>
              <a:t>Hardware reliability </a:t>
            </a:r>
          </a:p>
          <a:p>
            <a:pPr lvl="1" algn="just">
              <a:spcBef>
                <a:spcPts val="625"/>
              </a:spcBef>
              <a:spcAft>
                <a:spcPts val="625"/>
              </a:spcAft>
            </a:pPr>
            <a:r>
              <a:rPr lang="en-GB" sz="2000" dirty="0"/>
              <a:t>What is the probability of a hardware component failing and how long does it take to repair that component?</a:t>
            </a:r>
          </a:p>
          <a:p>
            <a:pPr algn="just">
              <a:spcAft>
                <a:spcPts val="625"/>
              </a:spcAft>
            </a:pPr>
            <a:r>
              <a:rPr lang="en-GB" sz="2400" i="1" dirty="0"/>
              <a:t>Software reliability</a:t>
            </a:r>
            <a:r>
              <a:rPr lang="en-GB" sz="2400" dirty="0"/>
              <a:t> </a:t>
            </a:r>
          </a:p>
          <a:p>
            <a:pPr lvl="1" algn="just">
              <a:spcAft>
                <a:spcPts val="625"/>
              </a:spcAft>
            </a:pPr>
            <a:r>
              <a:rPr lang="en-GB" sz="2000" dirty="0"/>
              <a:t>How likely is it that a software component will produce an incorrect output. Software failure is usually distinct from hardware failure in that software does not wear out.  </a:t>
            </a:r>
          </a:p>
          <a:p>
            <a:pPr algn="just">
              <a:spcAft>
                <a:spcPts val="625"/>
              </a:spcAft>
            </a:pPr>
            <a:r>
              <a:rPr lang="en-GB" sz="2400" i="1" dirty="0"/>
              <a:t>Operator reliability </a:t>
            </a:r>
          </a:p>
          <a:p>
            <a:pPr lvl="1" algn="just">
              <a:spcAft>
                <a:spcPts val="625"/>
              </a:spcAft>
            </a:pPr>
            <a:r>
              <a:rPr lang="en-GB" sz="2000" dirty="0"/>
              <a:t>How likely is it that the operator of a system will make an error?</a:t>
            </a:r>
          </a:p>
          <a:p>
            <a:pPr algn="just">
              <a:spcAft>
                <a:spcPts val="625"/>
              </a:spcAft>
            </a:pPr>
            <a:r>
              <a:rPr lang="en-GB" sz="2400" dirty="0"/>
              <a:t>Failures are not independent and they propagate from one level to another.</a:t>
            </a:r>
          </a:p>
        </p:txBody>
      </p:sp>
      <p:sp>
        <p:nvSpPr>
          <p:cNvPr id="58371" name="Rectangle 3"/>
          <p:cNvSpPr>
            <a:spLocks noGrp="1" noChangeArrowheads="1"/>
          </p:cNvSpPr>
          <p:nvPr>
            <p:ph type="title"/>
          </p:nvPr>
        </p:nvSpPr>
        <p:spPr>
          <a:noFill/>
          <a:ln/>
        </p:spPr>
        <p:txBody>
          <a:bodyPr/>
          <a:lstStyle/>
          <a:p>
            <a:r>
              <a:rPr lang="en-GB"/>
              <a:t>Influences on reliability</a:t>
            </a:r>
          </a:p>
        </p:txBody>
      </p:sp>
      <p:sp>
        <p:nvSpPr>
          <p:cNvPr id="2" name="Slide Number Placeholder 1"/>
          <p:cNvSpPr>
            <a:spLocks noGrp="1"/>
          </p:cNvSpPr>
          <p:nvPr>
            <p:ph type="sldNum" sz="quarter" idx="12"/>
          </p:nvPr>
        </p:nvSpPr>
        <p:spPr/>
        <p:txBody>
          <a:bodyPr/>
          <a:lstStyle/>
          <a:p>
            <a:fld id="{A86F8904-DFC0-E240-BFF8-1216C9CAE37B}" type="slidenum">
              <a:rPr lang="en-US" smtClean="0"/>
              <a:pPr/>
              <a:t>17</a:t>
            </a:fld>
            <a:endParaRPr lang="en-US"/>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Failure propagation</a:t>
            </a:r>
            <a:r>
              <a:rPr lang="en-GB" dirty="0"/>
              <a:t> </a:t>
            </a:r>
            <a:endParaRPr lang="en-US" dirty="0"/>
          </a:p>
        </p:txBody>
      </p:sp>
      <p:sp>
        <p:nvSpPr>
          <p:cNvPr id="5" name="Slide Number Placeholder 4"/>
          <p:cNvSpPr>
            <a:spLocks noGrp="1"/>
          </p:cNvSpPr>
          <p:nvPr>
            <p:ph type="sldNum" sz="quarter" idx="12"/>
          </p:nvPr>
        </p:nvSpPr>
        <p:spPr/>
        <p:txBody>
          <a:bodyPr/>
          <a:lstStyle/>
          <a:p>
            <a:fld id="{A86F8904-DFC0-E240-BFF8-1216C9CAE37B}" type="slidenum">
              <a:rPr lang="en-US" smtClean="0"/>
              <a:pPr/>
              <a:t>18</a:t>
            </a:fld>
            <a:endParaRPr lang="en-US"/>
          </a:p>
        </p:txBody>
      </p:sp>
      <p:sp>
        <p:nvSpPr>
          <p:cNvPr id="3" name="Content Placeholder 2"/>
          <p:cNvSpPr>
            <a:spLocks noGrp="1"/>
          </p:cNvSpPr>
          <p:nvPr>
            <p:ph idx="1"/>
          </p:nvPr>
        </p:nvSpPr>
        <p:spPr/>
        <p:txBody>
          <a:bodyPr/>
          <a:lstStyle/>
          <a:p>
            <a:pPr marL="0" indent="0">
              <a:buNone/>
            </a:pPr>
            <a:endParaRPr lang="ar-SA" dirty="0"/>
          </a:p>
        </p:txBody>
      </p:sp>
      <p:pic>
        <p:nvPicPr>
          <p:cNvPr id="7" name="Picture 6"/>
          <p:cNvPicPr>
            <a:picLocks noChangeAspect="1"/>
          </p:cNvPicPr>
          <p:nvPr/>
        </p:nvPicPr>
        <p:blipFill>
          <a:blip r:embed="rId2"/>
          <a:stretch>
            <a:fillRect/>
          </a:stretch>
        </p:blipFill>
        <p:spPr>
          <a:xfrm>
            <a:off x="1195387" y="1600200"/>
            <a:ext cx="6753225" cy="4191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Non-determinism</a:t>
            </a:r>
          </a:p>
        </p:txBody>
      </p:sp>
      <p:sp>
        <p:nvSpPr>
          <p:cNvPr id="3" name="Content Placeholder 2"/>
          <p:cNvSpPr>
            <a:spLocks noGrp="1"/>
          </p:cNvSpPr>
          <p:nvPr>
            <p:ph idx="1"/>
          </p:nvPr>
        </p:nvSpPr>
        <p:spPr/>
        <p:txBody>
          <a:bodyPr/>
          <a:lstStyle/>
          <a:p>
            <a:r>
              <a:rPr lang="en-US" dirty="0"/>
              <a:t>A deterministic system is one where a given sequence of inputs will always produce the same sequence of outputs.</a:t>
            </a:r>
          </a:p>
          <a:p>
            <a:r>
              <a:rPr lang="en-US" dirty="0"/>
              <a:t>Software systems are deterministic; systems that include humans are non-deterministic</a:t>
            </a:r>
          </a:p>
          <a:p>
            <a:pPr lvl="1"/>
            <a:r>
              <a:rPr lang="en-US" dirty="0"/>
              <a:t>A socio-technical system will not always produce the same sequence of outputs from the same input sequence</a:t>
            </a:r>
          </a:p>
          <a:p>
            <a:pPr lvl="1"/>
            <a:r>
              <a:rPr lang="en-US" dirty="0"/>
              <a:t>Human elements</a:t>
            </a:r>
          </a:p>
          <a:p>
            <a:pPr lvl="2"/>
            <a:r>
              <a:rPr lang="en-US" dirty="0"/>
              <a:t>People do not always behave in the same way</a:t>
            </a:r>
          </a:p>
          <a:p>
            <a:pPr lvl="1"/>
            <a:r>
              <a:rPr lang="en-US" dirty="0"/>
              <a:t>System changes</a:t>
            </a:r>
          </a:p>
          <a:p>
            <a:pPr lvl="2"/>
            <a:r>
              <a:rPr lang="en-US" dirty="0"/>
              <a:t>System </a:t>
            </a:r>
            <a:r>
              <a:rPr lang="en-US" dirty="0" err="1"/>
              <a:t>behaviour</a:t>
            </a:r>
            <a:r>
              <a:rPr lang="en-US" dirty="0"/>
              <a:t> is unpredictable because of frequent changes to hardware, software and data.</a:t>
            </a:r>
          </a:p>
        </p:txBody>
      </p:sp>
      <p:sp>
        <p:nvSpPr>
          <p:cNvPr id="5" name="Slide Number Placeholder 4"/>
          <p:cNvSpPr>
            <a:spLocks noGrp="1"/>
          </p:cNvSpPr>
          <p:nvPr>
            <p:ph type="sldNum" sz="quarter" idx="12"/>
          </p:nvPr>
        </p:nvSpPr>
        <p:spPr/>
        <p:txBody>
          <a:bodyPr/>
          <a:lstStyle/>
          <a:p>
            <a:fld id="{A86F8904-DFC0-E240-BFF8-1216C9CAE37B}" type="slidenum">
              <a:rPr lang="en-US" smtClean="0"/>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Success criteria</a:t>
            </a:r>
          </a:p>
        </p:txBody>
      </p:sp>
      <p:sp>
        <p:nvSpPr>
          <p:cNvPr id="3" name="Content Placeholder 2"/>
          <p:cNvSpPr>
            <a:spLocks noGrp="1"/>
          </p:cNvSpPr>
          <p:nvPr>
            <p:ph idx="1"/>
          </p:nvPr>
        </p:nvSpPr>
        <p:spPr/>
        <p:txBody>
          <a:bodyPr/>
          <a:lstStyle/>
          <a:p>
            <a:r>
              <a:rPr lang="en-US" dirty="0"/>
              <a:t>Complex systems are developed to address ‘wicked problems’ – problems where there cannot be a complete specification.</a:t>
            </a:r>
          </a:p>
          <a:p>
            <a:r>
              <a:rPr lang="en-US" dirty="0"/>
              <a:t>Different stakeholders see the problem in different ways and each has a partial understanding of the issues affecting the system.</a:t>
            </a:r>
          </a:p>
          <a:p>
            <a:r>
              <a:rPr lang="en-US" dirty="0"/>
              <a:t>Consequently, different stakeholders have their own views about whether or not a system is ‘successful’</a:t>
            </a:r>
          </a:p>
          <a:p>
            <a:pPr lvl="1"/>
            <a:r>
              <a:rPr lang="en-US" dirty="0"/>
              <a:t>Success is a judgment and cannot be objectively measured.</a:t>
            </a:r>
          </a:p>
          <a:p>
            <a:pPr lvl="1"/>
            <a:r>
              <a:rPr lang="en-US" dirty="0"/>
              <a:t>Success is judged using the effectiveness of the system when deployed rather than judged against the original reasons for procurement.</a:t>
            </a:r>
          </a:p>
        </p:txBody>
      </p:sp>
      <p:sp>
        <p:nvSpPr>
          <p:cNvPr id="5" name="Slide Number Placeholder 4"/>
          <p:cNvSpPr>
            <a:spLocks noGrp="1"/>
          </p:cNvSpPr>
          <p:nvPr>
            <p:ph type="sldNum" sz="quarter" idx="12"/>
          </p:nvPr>
        </p:nvSpPr>
        <p:spPr/>
        <p:txBody>
          <a:bodyPr/>
          <a:lstStyle/>
          <a:p>
            <a:fld id="{A86F8904-DFC0-E240-BFF8-1216C9CAE37B}" type="slidenum">
              <a:rPr lang="en-US" smtClean="0"/>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Conflicting views of success</a:t>
            </a:r>
          </a:p>
        </p:txBody>
      </p:sp>
      <p:sp>
        <p:nvSpPr>
          <p:cNvPr id="3" name="Content Placeholder 2"/>
          <p:cNvSpPr>
            <a:spLocks noGrp="1"/>
          </p:cNvSpPr>
          <p:nvPr>
            <p:ph idx="1"/>
          </p:nvPr>
        </p:nvSpPr>
        <p:spPr/>
        <p:txBody>
          <a:bodyPr/>
          <a:lstStyle/>
          <a:p>
            <a:r>
              <a:rPr lang="en-US" dirty="0"/>
              <a:t>MHC-PMS designed to support multiple, conflicting goals</a:t>
            </a:r>
          </a:p>
          <a:p>
            <a:pPr lvl="1"/>
            <a:r>
              <a:rPr lang="en-US" dirty="0"/>
              <a:t>Improve quality of care.</a:t>
            </a:r>
          </a:p>
          <a:p>
            <a:pPr lvl="1"/>
            <a:r>
              <a:rPr lang="en-US" dirty="0"/>
              <a:t>Provide better information and care costs and so increase revenue.</a:t>
            </a:r>
          </a:p>
          <a:p>
            <a:r>
              <a:rPr lang="en-US" dirty="0"/>
              <a:t>Fundamental conflict</a:t>
            </a:r>
          </a:p>
          <a:p>
            <a:pPr lvl="1"/>
            <a:r>
              <a:rPr lang="en-US" dirty="0"/>
              <a:t>To satisfy reporting goal, doctors and nurses had to provide additional information over and above that required for clinical purposes.</a:t>
            </a:r>
          </a:p>
          <a:p>
            <a:pPr lvl="1"/>
            <a:r>
              <a:rPr lang="en-US" dirty="0"/>
              <a:t>They had less time to interact with patients, so quality of care reduced. System was not a success.</a:t>
            </a:r>
          </a:p>
          <a:p>
            <a:r>
              <a:rPr lang="en-US" dirty="0"/>
              <a:t>However, managers had better reports</a:t>
            </a:r>
          </a:p>
          <a:p>
            <a:pPr lvl="1"/>
            <a:r>
              <a:rPr lang="en-US" dirty="0"/>
              <a:t>System was a success from a managerial perspective.</a:t>
            </a:r>
          </a:p>
        </p:txBody>
      </p:sp>
      <p:sp>
        <p:nvSpPr>
          <p:cNvPr id="5" name="Slide Number Placeholder 4"/>
          <p:cNvSpPr>
            <a:spLocks noGrp="1"/>
          </p:cNvSpPr>
          <p:nvPr>
            <p:ph type="sldNum" sz="quarter" idx="12"/>
          </p:nvPr>
        </p:nvSpPr>
        <p:spPr/>
        <p:txBody>
          <a:bodyPr/>
          <a:lstStyle/>
          <a:p>
            <a:fld id="{A86F8904-DFC0-E240-BFF8-1216C9CAE37B}" type="slidenum">
              <a:rPr lang="en-US" smtClean="0"/>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Systems engineering</a:t>
            </a:r>
          </a:p>
        </p:txBody>
      </p:sp>
      <p:sp>
        <p:nvSpPr>
          <p:cNvPr id="3" name="Content Placeholder 2"/>
          <p:cNvSpPr>
            <a:spLocks noGrp="1"/>
          </p:cNvSpPr>
          <p:nvPr>
            <p:ph idx="1"/>
          </p:nvPr>
        </p:nvSpPr>
        <p:spPr/>
        <p:txBody>
          <a:bodyPr/>
          <a:lstStyle/>
          <a:p>
            <a:r>
              <a:rPr lang="en-US" dirty="0"/>
              <a:t>Procuring, specifying, designing, implementing, validating, deploying and maintaining socio-technical systems.</a:t>
            </a:r>
          </a:p>
          <a:p>
            <a:r>
              <a:rPr lang="en-US" dirty="0"/>
              <a:t>Concerned with the services provided by the system, constraints on its construction and operation and the ways in which it is used to fulfil its purpose or purposes.</a:t>
            </a:r>
          </a:p>
          <a:p>
            <a:endParaRPr lang="en-US" dirty="0"/>
          </a:p>
        </p:txBody>
      </p:sp>
      <p:sp>
        <p:nvSpPr>
          <p:cNvPr id="5" name="Slide Number Placeholder 4"/>
          <p:cNvSpPr>
            <a:spLocks noGrp="1"/>
          </p:cNvSpPr>
          <p:nvPr>
            <p:ph type="sldNum" sz="quarter" idx="12"/>
          </p:nvPr>
        </p:nvSpPr>
        <p:spPr/>
        <p:txBody>
          <a:bodyPr/>
          <a:lstStyle/>
          <a:p>
            <a:fld id="{A86F8904-DFC0-E240-BFF8-1216C9CAE37B}" type="slidenum">
              <a:rPr lang="en-US" smtClean="0"/>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Stages of systems engineering</a:t>
            </a:r>
            <a:r>
              <a:rPr lang="en-GB" dirty="0"/>
              <a:t> </a:t>
            </a:r>
            <a:endParaRPr lang="en-US" dirty="0"/>
          </a:p>
        </p:txBody>
      </p:sp>
      <p:sp>
        <p:nvSpPr>
          <p:cNvPr id="5" name="Slide Number Placeholder 4"/>
          <p:cNvSpPr>
            <a:spLocks noGrp="1"/>
          </p:cNvSpPr>
          <p:nvPr>
            <p:ph type="sldNum" sz="quarter" idx="12"/>
          </p:nvPr>
        </p:nvSpPr>
        <p:spPr/>
        <p:txBody>
          <a:bodyPr/>
          <a:lstStyle/>
          <a:p>
            <a:fld id="{A86F8904-DFC0-E240-BFF8-1216C9CAE37B}" type="slidenum">
              <a:rPr lang="en-US" smtClean="0"/>
              <a:pPr/>
              <a:t>23</a:t>
            </a:fld>
            <a:endParaRPr lang="en-US"/>
          </a:p>
        </p:txBody>
      </p:sp>
      <p:sp>
        <p:nvSpPr>
          <p:cNvPr id="3" name="Content Placeholder 2"/>
          <p:cNvSpPr>
            <a:spLocks noGrp="1"/>
          </p:cNvSpPr>
          <p:nvPr>
            <p:ph idx="1"/>
          </p:nvPr>
        </p:nvSpPr>
        <p:spPr/>
        <p:txBody>
          <a:bodyPr/>
          <a:lstStyle/>
          <a:p>
            <a:endParaRPr lang="ar-SA" dirty="0"/>
          </a:p>
        </p:txBody>
      </p:sp>
      <p:pic>
        <p:nvPicPr>
          <p:cNvPr id="7" name="Picture 6"/>
          <p:cNvPicPr>
            <a:picLocks noChangeAspect="1"/>
          </p:cNvPicPr>
          <p:nvPr/>
        </p:nvPicPr>
        <p:blipFill>
          <a:blip r:embed="rId2"/>
          <a:stretch>
            <a:fillRect/>
          </a:stretch>
        </p:blipFill>
        <p:spPr>
          <a:xfrm>
            <a:off x="1009650" y="1647825"/>
            <a:ext cx="7124700" cy="399097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Systems engineering stages</a:t>
            </a:r>
          </a:p>
        </p:txBody>
      </p:sp>
      <p:sp>
        <p:nvSpPr>
          <p:cNvPr id="3" name="Content Placeholder 2"/>
          <p:cNvSpPr>
            <a:spLocks noGrp="1"/>
          </p:cNvSpPr>
          <p:nvPr>
            <p:ph idx="1"/>
          </p:nvPr>
        </p:nvSpPr>
        <p:spPr/>
        <p:txBody>
          <a:bodyPr/>
          <a:lstStyle/>
          <a:p>
            <a:r>
              <a:rPr lang="en-US" dirty="0"/>
              <a:t>Procurement (acquisition)</a:t>
            </a:r>
          </a:p>
          <a:p>
            <a:pPr lvl="1"/>
            <a:r>
              <a:rPr lang="en-US" dirty="0"/>
              <a:t>The purpose of the system is established, high-level system requirements are defined, decisions are made on how functionality is distributed and the system components are purchased.</a:t>
            </a:r>
          </a:p>
          <a:p>
            <a:r>
              <a:rPr lang="en-US" dirty="0"/>
              <a:t>Development</a:t>
            </a:r>
          </a:p>
          <a:p>
            <a:pPr lvl="1"/>
            <a:r>
              <a:rPr lang="en-US" dirty="0"/>
              <a:t>The system is developed – requirements are defined in detail, the system is implemented and tested and operational processes are defined.</a:t>
            </a:r>
          </a:p>
          <a:p>
            <a:r>
              <a:rPr lang="en-US" dirty="0"/>
              <a:t>Operation</a:t>
            </a:r>
          </a:p>
          <a:p>
            <a:pPr lvl="1"/>
            <a:r>
              <a:rPr lang="en-US" dirty="0"/>
              <a:t>The system is deployed and put into use. Changes are made as new requirements emerge. Eventually, the system is decommissioned.</a:t>
            </a:r>
          </a:p>
        </p:txBody>
      </p:sp>
      <p:sp>
        <p:nvSpPr>
          <p:cNvPr id="5" name="Slide Number Placeholder 4"/>
          <p:cNvSpPr>
            <a:spLocks noGrp="1"/>
          </p:cNvSpPr>
          <p:nvPr>
            <p:ph type="sldNum" sz="quarter" idx="12"/>
          </p:nvPr>
        </p:nvSpPr>
        <p:spPr/>
        <p:txBody>
          <a:bodyPr/>
          <a:lstStyle/>
          <a:p>
            <a:fld id="{A86F8904-DFC0-E240-BFF8-1216C9CAE37B}" type="slidenum">
              <a:rPr lang="en-US" smtClean="0"/>
              <a:pP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Security and dependability considerations</a:t>
            </a:r>
          </a:p>
        </p:txBody>
      </p:sp>
      <p:sp>
        <p:nvSpPr>
          <p:cNvPr id="3" name="Content Placeholder 2"/>
          <p:cNvSpPr>
            <a:spLocks noGrp="1"/>
          </p:cNvSpPr>
          <p:nvPr>
            <p:ph idx="1"/>
          </p:nvPr>
        </p:nvSpPr>
        <p:spPr/>
        <p:txBody>
          <a:bodyPr/>
          <a:lstStyle/>
          <a:p>
            <a:r>
              <a:rPr lang="en-US" dirty="0"/>
              <a:t>Design options limited by procurement decisions</a:t>
            </a:r>
          </a:p>
          <a:p>
            <a:pPr lvl="1"/>
            <a:r>
              <a:rPr lang="en-US" dirty="0"/>
              <a:t>Purchased components may make some safeguards impossible to implement.</a:t>
            </a:r>
          </a:p>
          <a:p>
            <a:r>
              <a:rPr lang="en-US" dirty="0"/>
              <a:t>Human errors made during development may introduce faults into the system.</a:t>
            </a:r>
          </a:p>
          <a:p>
            <a:r>
              <a:rPr lang="en-US" dirty="0"/>
              <a:t>Inadequate testing may mean faults are not discovered before deployment.</a:t>
            </a:r>
          </a:p>
          <a:p>
            <a:r>
              <a:rPr lang="en-US" dirty="0"/>
              <a:t>Configuration errors during deployment may introduce vulnerabilities.</a:t>
            </a:r>
          </a:p>
          <a:p>
            <a:r>
              <a:rPr lang="en-US" dirty="0"/>
              <a:t>Assumptions made during procurement may be forgotten when system changes are made.</a:t>
            </a:r>
          </a:p>
        </p:txBody>
      </p:sp>
      <p:sp>
        <p:nvSpPr>
          <p:cNvPr id="5" name="Slide Number Placeholder 4"/>
          <p:cNvSpPr>
            <a:spLocks noGrp="1"/>
          </p:cNvSpPr>
          <p:nvPr>
            <p:ph type="sldNum" sz="quarter" idx="12"/>
          </p:nvPr>
        </p:nvSpPr>
        <p:spPr/>
        <p:txBody>
          <a:bodyPr/>
          <a:lstStyle/>
          <a:p>
            <a:fld id="{A86F8904-DFC0-E240-BFF8-1216C9CAE37B}" type="slidenum">
              <a:rPr lang="en-US" smtClean="0"/>
              <a:pPr/>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Professional disciplines involved in systems engineering</a:t>
            </a:r>
            <a:r>
              <a:rPr lang="en-GB" dirty="0"/>
              <a:t> </a:t>
            </a:r>
            <a:endParaRPr lang="en-US" dirty="0"/>
          </a:p>
        </p:txBody>
      </p:sp>
      <p:sp>
        <p:nvSpPr>
          <p:cNvPr id="5" name="Slide Number Placeholder 4"/>
          <p:cNvSpPr>
            <a:spLocks noGrp="1"/>
          </p:cNvSpPr>
          <p:nvPr>
            <p:ph type="sldNum" sz="quarter" idx="12"/>
          </p:nvPr>
        </p:nvSpPr>
        <p:spPr/>
        <p:txBody>
          <a:bodyPr/>
          <a:lstStyle/>
          <a:p>
            <a:fld id="{A86F8904-DFC0-E240-BFF8-1216C9CAE37B}" type="slidenum">
              <a:rPr lang="en-US" smtClean="0"/>
              <a:pPr/>
              <a:t>26</a:t>
            </a:fld>
            <a:endParaRPr lang="en-US"/>
          </a:p>
        </p:txBody>
      </p:sp>
      <p:sp>
        <p:nvSpPr>
          <p:cNvPr id="3" name="Content Placeholder 2"/>
          <p:cNvSpPr>
            <a:spLocks noGrp="1"/>
          </p:cNvSpPr>
          <p:nvPr>
            <p:ph idx="1"/>
          </p:nvPr>
        </p:nvSpPr>
        <p:spPr/>
        <p:txBody>
          <a:bodyPr/>
          <a:lstStyle/>
          <a:p>
            <a:endParaRPr lang="ar-SA"/>
          </a:p>
        </p:txBody>
      </p:sp>
      <p:pic>
        <p:nvPicPr>
          <p:cNvPr id="7" name="Picture 6"/>
          <p:cNvPicPr>
            <a:picLocks noChangeAspect="1"/>
          </p:cNvPicPr>
          <p:nvPr/>
        </p:nvPicPr>
        <p:blipFill>
          <a:blip r:embed="rId2"/>
          <a:stretch>
            <a:fillRect/>
          </a:stretch>
        </p:blipFill>
        <p:spPr>
          <a:xfrm>
            <a:off x="928687" y="1600200"/>
            <a:ext cx="7286625" cy="395287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Inter-disciplinary working</a:t>
            </a:r>
          </a:p>
        </p:txBody>
      </p:sp>
      <p:sp>
        <p:nvSpPr>
          <p:cNvPr id="3" name="Content Placeholder 2"/>
          <p:cNvSpPr>
            <a:spLocks noGrp="1"/>
          </p:cNvSpPr>
          <p:nvPr>
            <p:ph idx="1"/>
          </p:nvPr>
        </p:nvSpPr>
        <p:spPr/>
        <p:txBody>
          <a:bodyPr/>
          <a:lstStyle/>
          <a:p>
            <a:r>
              <a:rPr lang="en-US" dirty="0"/>
              <a:t>Communication difficulties</a:t>
            </a:r>
          </a:p>
          <a:p>
            <a:pPr lvl="1"/>
            <a:r>
              <a:rPr lang="en-US" dirty="0"/>
              <a:t>Different disciplines use the same terminology to mean different things. This can lead to misunderstandings about what will be implemented.</a:t>
            </a:r>
          </a:p>
          <a:p>
            <a:r>
              <a:rPr lang="en-US" dirty="0"/>
              <a:t>Differing assumptions</a:t>
            </a:r>
          </a:p>
          <a:p>
            <a:pPr lvl="1"/>
            <a:r>
              <a:rPr lang="en-US" dirty="0"/>
              <a:t>Each discipline makes assumptions about what can and can’t be done by other disciplines. </a:t>
            </a:r>
          </a:p>
          <a:p>
            <a:r>
              <a:rPr lang="en-US" dirty="0"/>
              <a:t>Professional boundaries</a:t>
            </a:r>
          </a:p>
          <a:p>
            <a:pPr lvl="1"/>
            <a:r>
              <a:rPr lang="en-US" dirty="0"/>
              <a:t>Each discipline tries to protect their professional boundaries and expertise and this affects their judgments on the system.</a:t>
            </a:r>
          </a:p>
        </p:txBody>
      </p:sp>
      <p:sp>
        <p:nvSpPr>
          <p:cNvPr id="5" name="Slide Number Placeholder 4"/>
          <p:cNvSpPr>
            <a:spLocks noGrp="1"/>
          </p:cNvSpPr>
          <p:nvPr>
            <p:ph type="sldNum" sz="quarter" idx="12"/>
          </p:nvPr>
        </p:nvSpPr>
        <p:spPr/>
        <p:txBody>
          <a:bodyPr/>
          <a:lstStyle/>
          <a:p>
            <a:fld id="{A86F8904-DFC0-E240-BFF8-1216C9CAE37B}" type="slidenum">
              <a:rPr lang="en-US" smtClean="0"/>
              <a:pPr/>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procurement</a:t>
            </a:r>
          </a:p>
        </p:txBody>
      </p:sp>
      <p:sp>
        <p:nvSpPr>
          <p:cNvPr id="3" name="Content Placeholder 2"/>
          <p:cNvSpPr>
            <a:spLocks noGrp="1"/>
          </p:cNvSpPr>
          <p:nvPr>
            <p:ph idx="1"/>
          </p:nvPr>
        </p:nvSpPr>
        <p:spPr/>
        <p:txBody>
          <a:bodyPr/>
          <a:lstStyle/>
          <a:p>
            <a:r>
              <a:rPr lang="en-US" dirty="0"/>
              <a:t>Acquiring a system (or systems) to meet some identified organizational need.</a:t>
            </a:r>
          </a:p>
          <a:p>
            <a:r>
              <a:rPr lang="en-US" dirty="0"/>
              <a:t>Before procurement, decisions are made on:</a:t>
            </a:r>
          </a:p>
          <a:p>
            <a:pPr lvl="1"/>
            <a:r>
              <a:rPr lang="en-US" dirty="0"/>
              <a:t>Scope of the system</a:t>
            </a:r>
          </a:p>
          <a:p>
            <a:pPr lvl="1"/>
            <a:r>
              <a:rPr lang="en-US" dirty="0"/>
              <a:t>System budgets and timescales</a:t>
            </a:r>
          </a:p>
          <a:p>
            <a:pPr lvl="1"/>
            <a:r>
              <a:rPr lang="en-US" dirty="0"/>
              <a:t>High-level system requirements</a:t>
            </a:r>
          </a:p>
          <a:p>
            <a:r>
              <a:rPr lang="en-US" dirty="0"/>
              <a:t>Based on this information, decisions are made on whether to procure a system, the type of system and the potential system suppliers.</a:t>
            </a:r>
          </a:p>
        </p:txBody>
      </p:sp>
      <p:sp>
        <p:nvSpPr>
          <p:cNvPr id="5" name="Slide Number Placeholder 4"/>
          <p:cNvSpPr>
            <a:spLocks noGrp="1"/>
          </p:cNvSpPr>
          <p:nvPr>
            <p:ph type="sldNum" sz="quarter" idx="12"/>
          </p:nvPr>
        </p:nvSpPr>
        <p:spPr/>
        <p:txBody>
          <a:bodyPr/>
          <a:lstStyle/>
          <a:p>
            <a:fld id="{A86F8904-DFC0-E240-BFF8-1216C9CAE37B}" type="slidenum">
              <a:rPr lang="en-US" smtClean="0"/>
              <a:pPr/>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Decision drivers</a:t>
            </a:r>
          </a:p>
        </p:txBody>
      </p:sp>
      <p:sp>
        <p:nvSpPr>
          <p:cNvPr id="3" name="Content Placeholder 2"/>
          <p:cNvSpPr>
            <a:spLocks noGrp="1"/>
          </p:cNvSpPr>
          <p:nvPr>
            <p:ph idx="1"/>
          </p:nvPr>
        </p:nvSpPr>
        <p:spPr/>
        <p:txBody>
          <a:bodyPr/>
          <a:lstStyle/>
          <a:p>
            <a:r>
              <a:rPr lang="en-US" dirty="0"/>
              <a:t>The state of other organizational systems</a:t>
            </a:r>
          </a:p>
          <a:p>
            <a:r>
              <a:rPr lang="en-US" dirty="0"/>
              <a:t>The need to comply with external regulations</a:t>
            </a:r>
          </a:p>
          <a:p>
            <a:r>
              <a:rPr lang="en-US" dirty="0"/>
              <a:t>External competition</a:t>
            </a:r>
          </a:p>
          <a:p>
            <a:r>
              <a:rPr lang="en-US" dirty="0"/>
              <a:t>Business re-organization</a:t>
            </a:r>
          </a:p>
          <a:p>
            <a:r>
              <a:rPr lang="en-US" dirty="0"/>
              <a:t>Available budget</a:t>
            </a:r>
          </a:p>
        </p:txBody>
      </p:sp>
      <p:sp>
        <p:nvSpPr>
          <p:cNvPr id="5" name="Slide Number Placeholder 4"/>
          <p:cNvSpPr>
            <a:spLocks noGrp="1"/>
          </p:cNvSpPr>
          <p:nvPr>
            <p:ph type="sldNum" sz="quarter" idx="12"/>
          </p:nvPr>
        </p:nvSpPr>
        <p:spPr/>
        <p:txBody>
          <a:bodyPr/>
          <a:lstStyle/>
          <a:p>
            <a:fld id="{A86F8904-DFC0-E240-BFF8-1216C9CAE37B}" type="slidenum">
              <a:rPr lang="en-US" smtClean="0"/>
              <a:pPr/>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noFill/>
          <a:ln/>
        </p:spPr>
        <p:txBody>
          <a:bodyPr/>
          <a:lstStyle/>
          <a:p>
            <a:r>
              <a:rPr lang="en-GB" dirty="0"/>
              <a:t>Procurement and development</a:t>
            </a:r>
          </a:p>
        </p:txBody>
      </p:sp>
      <p:sp>
        <p:nvSpPr>
          <p:cNvPr id="70659" name="Rectangle 3"/>
          <p:cNvSpPr>
            <a:spLocks noGrp="1" noChangeArrowheads="1"/>
          </p:cNvSpPr>
          <p:nvPr>
            <p:ph type="body" idx="1"/>
          </p:nvPr>
        </p:nvSpPr>
        <p:spPr>
          <a:noFill/>
          <a:ln/>
        </p:spPr>
        <p:txBody>
          <a:bodyPr/>
          <a:lstStyle/>
          <a:p>
            <a:pPr>
              <a:lnSpc>
                <a:spcPct val="90000"/>
              </a:lnSpc>
            </a:pPr>
            <a:r>
              <a:rPr lang="en-GB" sz="2400" dirty="0"/>
              <a:t>Some system specification and architectural design is usually necessary before procurement</a:t>
            </a:r>
          </a:p>
          <a:p>
            <a:pPr lvl="1">
              <a:lnSpc>
                <a:spcPct val="90000"/>
              </a:lnSpc>
            </a:pPr>
            <a:r>
              <a:rPr lang="en-GB" sz="2000" dirty="0"/>
              <a:t>You need a specification to let a contract for system development</a:t>
            </a:r>
          </a:p>
          <a:p>
            <a:pPr lvl="1">
              <a:lnSpc>
                <a:spcPct val="90000"/>
              </a:lnSpc>
            </a:pPr>
            <a:r>
              <a:rPr lang="en-GB" sz="2000" dirty="0"/>
              <a:t>The specification may allow you to buy a commercial off-the-shelf (COTS) system. Almost always cheaper than developing a system from scratch</a:t>
            </a:r>
          </a:p>
          <a:p>
            <a:pPr>
              <a:lnSpc>
                <a:spcPct val="90000"/>
              </a:lnSpc>
            </a:pPr>
            <a:r>
              <a:rPr lang="en-US" sz="2400" dirty="0"/>
              <a:t>Large complex systems usually consist of a mix of off the shelf and specially designed components. The procurement processes for these different types of component are usually different.</a:t>
            </a:r>
            <a:endParaRPr lang="en-GB" sz="2400" dirty="0"/>
          </a:p>
        </p:txBody>
      </p:sp>
      <p:sp>
        <p:nvSpPr>
          <p:cNvPr id="2" name="Slide Number Placeholder 1"/>
          <p:cNvSpPr>
            <a:spLocks noGrp="1"/>
          </p:cNvSpPr>
          <p:nvPr>
            <p:ph type="sldNum" sz="quarter" idx="12"/>
          </p:nvPr>
        </p:nvSpPr>
        <p:spPr/>
        <p:txBody>
          <a:bodyPr/>
          <a:lstStyle/>
          <a:p>
            <a:fld id="{A86F8904-DFC0-E240-BFF8-1216C9CAE37B}" type="slidenum">
              <a:rPr lang="en-US" smtClean="0"/>
              <a:pPr/>
              <a:t>30</a:t>
            </a:fld>
            <a:endParaRPr lang="en-US"/>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procurement processes</a:t>
            </a:r>
          </a:p>
        </p:txBody>
      </p:sp>
      <p:sp>
        <p:nvSpPr>
          <p:cNvPr id="5" name="Slide Number Placeholder 4"/>
          <p:cNvSpPr>
            <a:spLocks noGrp="1"/>
          </p:cNvSpPr>
          <p:nvPr>
            <p:ph type="sldNum" sz="quarter" idx="12"/>
          </p:nvPr>
        </p:nvSpPr>
        <p:spPr/>
        <p:txBody>
          <a:bodyPr/>
          <a:lstStyle/>
          <a:p>
            <a:fld id="{A86F8904-DFC0-E240-BFF8-1216C9CAE37B}" type="slidenum">
              <a:rPr lang="en-US" smtClean="0"/>
              <a:pPr/>
              <a:t>31</a:t>
            </a:fld>
            <a:endParaRPr lang="en-US"/>
          </a:p>
        </p:txBody>
      </p:sp>
      <p:sp>
        <p:nvSpPr>
          <p:cNvPr id="3" name="Content Placeholder 2"/>
          <p:cNvSpPr>
            <a:spLocks noGrp="1"/>
          </p:cNvSpPr>
          <p:nvPr>
            <p:ph idx="1"/>
          </p:nvPr>
        </p:nvSpPr>
        <p:spPr/>
        <p:txBody>
          <a:bodyPr/>
          <a:lstStyle/>
          <a:p>
            <a:endParaRPr lang="ar-SA"/>
          </a:p>
        </p:txBody>
      </p:sp>
      <p:pic>
        <p:nvPicPr>
          <p:cNvPr id="7" name="Picture 6"/>
          <p:cNvPicPr>
            <a:picLocks noChangeAspect="1"/>
          </p:cNvPicPr>
          <p:nvPr/>
        </p:nvPicPr>
        <p:blipFill>
          <a:blip r:embed="rId2"/>
          <a:stretch>
            <a:fillRect/>
          </a:stretch>
        </p:blipFill>
        <p:spPr>
          <a:xfrm>
            <a:off x="168890" y="2636264"/>
            <a:ext cx="8865927" cy="2750952"/>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r>
              <a:rPr lang="en-GB"/>
              <a:t>Procurement issues</a:t>
            </a:r>
          </a:p>
        </p:txBody>
      </p:sp>
      <p:sp>
        <p:nvSpPr>
          <p:cNvPr id="80899" name="Rectangle 3"/>
          <p:cNvSpPr>
            <a:spLocks noGrp="1" noChangeArrowheads="1"/>
          </p:cNvSpPr>
          <p:nvPr>
            <p:ph type="body" idx="1"/>
          </p:nvPr>
        </p:nvSpPr>
        <p:spPr/>
        <p:txBody>
          <a:bodyPr/>
          <a:lstStyle/>
          <a:p>
            <a:r>
              <a:rPr lang="en-GB"/>
              <a:t>Requirements may have to be modified to match the capabilities of off-the-shelf components.</a:t>
            </a:r>
          </a:p>
          <a:p>
            <a:r>
              <a:rPr lang="en-GB"/>
              <a:t>The requirements specification may be part of the contract for the development of the system.</a:t>
            </a:r>
          </a:p>
          <a:p>
            <a:r>
              <a:rPr lang="en-GB"/>
              <a:t>There is usually a contract negotiation period to agree changes after the contractor to build a system has been selected.</a:t>
            </a:r>
          </a:p>
        </p:txBody>
      </p:sp>
      <p:sp>
        <p:nvSpPr>
          <p:cNvPr id="2" name="Slide Number Placeholder 1"/>
          <p:cNvSpPr>
            <a:spLocks noGrp="1"/>
          </p:cNvSpPr>
          <p:nvPr>
            <p:ph type="sldNum" sz="quarter" idx="12"/>
          </p:nvPr>
        </p:nvSpPr>
        <p:spPr/>
        <p:txBody>
          <a:bodyPr/>
          <a:lstStyle/>
          <a:p>
            <a:fld id="{A86F8904-DFC0-E240-BFF8-1216C9CAE37B}" type="slidenum">
              <a:rPr lang="en-US" smtClean="0"/>
              <a:pPr/>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noFill/>
          <a:ln/>
        </p:spPr>
        <p:txBody>
          <a:bodyPr/>
          <a:lstStyle/>
          <a:p>
            <a:r>
              <a:rPr lang="en-GB"/>
              <a:t>Contractors and sub-contractors</a:t>
            </a:r>
          </a:p>
        </p:txBody>
      </p:sp>
      <p:sp>
        <p:nvSpPr>
          <p:cNvPr id="71683" name="Rectangle 3"/>
          <p:cNvSpPr>
            <a:spLocks noGrp="1" noChangeArrowheads="1"/>
          </p:cNvSpPr>
          <p:nvPr>
            <p:ph type="body" idx="1"/>
          </p:nvPr>
        </p:nvSpPr>
        <p:spPr>
          <a:noFill/>
          <a:ln/>
        </p:spPr>
        <p:txBody>
          <a:bodyPr/>
          <a:lstStyle/>
          <a:p>
            <a:r>
              <a:rPr lang="en-GB" dirty="0"/>
              <a:t>The procurement of large hardware/software systems is usually based around some principal contractor.</a:t>
            </a:r>
          </a:p>
          <a:p>
            <a:r>
              <a:rPr lang="en-GB" dirty="0"/>
              <a:t>Sub-contracts are issued to other suppliers to supply parts of the system.</a:t>
            </a:r>
          </a:p>
          <a:p>
            <a:r>
              <a:rPr lang="en-GB"/>
              <a:t>Customer liaises </a:t>
            </a:r>
            <a:r>
              <a:rPr lang="en-GB" dirty="0"/>
              <a:t>with the principal contractor and does not deal directly with sub-contractors.</a:t>
            </a:r>
          </a:p>
        </p:txBody>
      </p:sp>
      <p:sp>
        <p:nvSpPr>
          <p:cNvPr id="2" name="Slide Number Placeholder 1"/>
          <p:cNvSpPr>
            <a:spLocks noGrp="1"/>
          </p:cNvSpPr>
          <p:nvPr>
            <p:ph type="sldNum" sz="quarter" idx="12"/>
          </p:nvPr>
        </p:nvSpPr>
        <p:spPr/>
        <p:txBody>
          <a:bodyPr/>
          <a:lstStyle/>
          <a:p>
            <a:fld id="{A86F8904-DFC0-E240-BFF8-1216C9CAE37B}" type="slidenum">
              <a:rPr lang="en-US" smtClean="0"/>
              <a:pPr/>
              <a:t>33</a:t>
            </a:fld>
            <a:endParaRPr lang="en-US"/>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Procurement and dependability</a:t>
            </a:r>
          </a:p>
        </p:txBody>
      </p:sp>
      <p:sp>
        <p:nvSpPr>
          <p:cNvPr id="3" name="Content Placeholder 2"/>
          <p:cNvSpPr>
            <a:spLocks noGrp="1"/>
          </p:cNvSpPr>
          <p:nvPr>
            <p:ph idx="1"/>
          </p:nvPr>
        </p:nvSpPr>
        <p:spPr/>
        <p:txBody>
          <a:bodyPr/>
          <a:lstStyle/>
          <a:p>
            <a:r>
              <a:rPr lang="en-US" dirty="0"/>
              <a:t>Procurement decisions have profound effects on system dependability as these decisions limit the scope of dependability requirements.</a:t>
            </a:r>
          </a:p>
          <a:p>
            <a:r>
              <a:rPr lang="en-US" dirty="0"/>
              <a:t>For an off-the-shelf system, the procurer has very limited influence on the security and dependability requirements of the system.</a:t>
            </a:r>
          </a:p>
          <a:p>
            <a:r>
              <a:rPr lang="en-US" dirty="0"/>
              <a:t>For a custom system, considerable effort has to be expended in defining security and dependability requirements.</a:t>
            </a:r>
          </a:p>
        </p:txBody>
      </p:sp>
      <p:sp>
        <p:nvSpPr>
          <p:cNvPr id="5" name="Slide Number Placeholder 4"/>
          <p:cNvSpPr>
            <a:spLocks noGrp="1"/>
          </p:cNvSpPr>
          <p:nvPr>
            <p:ph type="sldNum" sz="quarter" idx="12"/>
          </p:nvPr>
        </p:nvSpPr>
        <p:spPr/>
        <p:txBody>
          <a:bodyPr/>
          <a:lstStyle/>
          <a:p>
            <a:fld id="{A86F8904-DFC0-E240-BFF8-1216C9CAE37B}" type="slidenum">
              <a:rPr lang="en-US" smtClean="0"/>
              <a:pPr/>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noFill/>
          <a:ln/>
        </p:spPr>
        <p:txBody>
          <a:bodyPr/>
          <a:lstStyle/>
          <a:p>
            <a:r>
              <a:rPr lang="en-GB" dirty="0"/>
              <a:t>System development</a:t>
            </a:r>
          </a:p>
        </p:txBody>
      </p:sp>
      <p:sp>
        <p:nvSpPr>
          <p:cNvPr id="21507" name="Rectangle 3"/>
          <p:cNvSpPr>
            <a:spLocks noGrp="1" noChangeArrowheads="1"/>
          </p:cNvSpPr>
          <p:nvPr>
            <p:ph type="body" idx="1"/>
          </p:nvPr>
        </p:nvSpPr>
        <p:spPr>
          <a:noFill/>
          <a:ln/>
        </p:spPr>
        <p:txBody>
          <a:bodyPr/>
          <a:lstStyle/>
          <a:p>
            <a:r>
              <a:rPr lang="en-GB" sz="2400" dirty="0"/>
              <a:t>Usually follows a plan-driven approach because of the need for parallel development of different parts of the system</a:t>
            </a:r>
          </a:p>
          <a:p>
            <a:pPr lvl="1"/>
            <a:r>
              <a:rPr lang="en-GB" sz="2000" dirty="0"/>
              <a:t>Little scope for iteration between phases because hardware changes are very expensive. Software may have to compensate for hardware problems.</a:t>
            </a:r>
          </a:p>
          <a:p>
            <a:r>
              <a:rPr lang="en-GB" sz="2400" dirty="0"/>
              <a:t>Inevitably involves engineers from different disciplines who must work together</a:t>
            </a:r>
          </a:p>
          <a:p>
            <a:pPr lvl="1"/>
            <a:r>
              <a:rPr lang="en-GB" sz="2000" dirty="0"/>
              <a:t>Much scope for misunderstanding here. </a:t>
            </a:r>
          </a:p>
          <a:p>
            <a:pPr lvl="1"/>
            <a:r>
              <a:rPr lang="en-GB" dirty="0"/>
              <a:t>As explained, d</a:t>
            </a:r>
            <a:r>
              <a:rPr lang="en-GB" sz="2000" dirty="0"/>
              <a:t>ifferent disciplines use a different vocabulary and much negotiation is required. Engineers may have personal agendas to fulfil.</a:t>
            </a:r>
          </a:p>
        </p:txBody>
      </p:sp>
      <p:sp>
        <p:nvSpPr>
          <p:cNvPr id="2" name="Slide Number Placeholder 1"/>
          <p:cNvSpPr>
            <a:spLocks noGrp="1"/>
          </p:cNvSpPr>
          <p:nvPr>
            <p:ph type="sldNum" sz="quarter" idx="12"/>
          </p:nvPr>
        </p:nvSpPr>
        <p:spPr/>
        <p:txBody>
          <a:bodyPr/>
          <a:lstStyle/>
          <a:p>
            <a:fld id="{A86F8904-DFC0-E240-BFF8-1216C9CAE37B}" type="slidenum">
              <a:rPr lang="en-US" smtClean="0"/>
              <a:pPr/>
              <a:t>35</a:t>
            </a:fld>
            <a:endParaRPr lang="en-US"/>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Systems development</a:t>
            </a:r>
            <a:r>
              <a:rPr lang="en-GB" dirty="0"/>
              <a:t> </a:t>
            </a:r>
            <a:endParaRPr lang="en-US" dirty="0"/>
          </a:p>
        </p:txBody>
      </p:sp>
      <p:sp>
        <p:nvSpPr>
          <p:cNvPr id="5" name="Slide Number Placeholder 4"/>
          <p:cNvSpPr>
            <a:spLocks noGrp="1"/>
          </p:cNvSpPr>
          <p:nvPr>
            <p:ph type="sldNum" sz="quarter" idx="12"/>
          </p:nvPr>
        </p:nvSpPr>
        <p:spPr/>
        <p:txBody>
          <a:bodyPr/>
          <a:lstStyle/>
          <a:p>
            <a:fld id="{A86F8904-DFC0-E240-BFF8-1216C9CAE37B}" type="slidenum">
              <a:rPr lang="en-US" smtClean="0"/>
              <a:pPr/>
              <a:t>36</a:t>
            </a:fld>
            <a:endParaRPr lang="en-US"/>
          </a:p>
        </p:txBody>
      </p:sp>
      <p:sp>
        <p:nvSpPr>
          <p:cNvPr id="3" name="Content Placeholder 2"/>
          <p:cNvSpPr>
            <a:spLocks noGrp="1"/>
          </p:cNvSpPr>
          <p:nvPr>
            <p:ph idx="1"/>
          </p:nvPr>
        </p:nvSpPr>
        <p:spPr/>
        <p:txBody>
          <a:bodyPr/>
          <a:lstStyle/>
          <a:p>
            <a:endParaRPr lang="ar-SA"/>
          </a:p>
        </p:txBody>
      </p:sp>
      <p:pic>
        <p:nvPicPr>
          <p:cNvPr id="7" name="Picture 6"/>
          <p:cNvPicPr>
            <a:picLocks noChangeAspect="1"/>
          </p:cNvPicPr>
          <p:nvPr/>
        </p:nvPicPr>
        <p:blipFill>
          <a:blip r:embed="rId2"/>
          <a:stretch>
            <a:fillRect/>
          </a:stretch>
        </p:blipFill>
        <p:spPr>
          <a:xfrm>
            <a:off x="276225" y="2451271"/>
            <a:ext cx="8591550" cy="2828925"/>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noFill/>
          <a:ln/>
        </p:spPr>
        <p:txBody>
          <a:bodyPr/>
          <a:lstStyle/>
          <a:p>
            <a:r>
              <a:rPr lang="en-GB"/>
              <a:t>System requirements definition</a:t>
            </a:r>
          </a:p>
        </p:txBody>
      </p:sp>
      <p:sp>
        <p:nvSpPr>
          <p:cNvPr id="24579" name="Rectangle 3"/>
          <p:cNvSpPr>
            <a:spLocks noGrp="1" noChangeArrowheads="1"/>
          </p:cNvSpPr>
          <p:nvPr>
            <p:ph type="body" idx="1"/>
          </p:nvPr>
        </p:nvSpPr>
        <p:spPr>
          <a:noFill/>
          <a:ln/>
        </p:spPr>
        <p:txBody>
          <a:bodyPr/>
          <a:lstStyle/>
          <a:p>
            <a:r>
              <a:rPr lang="en-GB"/>
              <a:t>Three types of requirement defined at this stage</a:t>
            </a:r>
          </a:p>
          <a:p>
            <a:pPr lvl="1"/>
            <a:r>
              <a:rPr lang="en-GB"/>
              <a:t>Abstract functional requirements. System functions are defined in an abstract way;</a:t>
            </a:r>
          </a:p>
          <a:p>
            <a:pPr lvl="1"/>
            <a:r>
              <a:rPr lang="en-GB"/>
              <a:t>System properties. Non-functional requirements for the system in general are defined;</a:t>
            </a:r>
          </a:p>
          <a:p>
            <a:pPr lvl="1"/>
            <a:r>
              <a:rPr lang="en-GB"/>
              <a:t>Undesirable characteristics. Unacceptable system behaviour is specified.</a:t>
            </a:r>
          </a:p>
          <a:p>
            <a:r>
              <a:rPr lang="en-GB"/>
              <a:t>Should also define overall organisational objectives for the system.</a:t>
            </a:r>
          </a:p>
        </p:txBody>
      </p:sp>
      <p:sp>
        <p:nvSpPr>
          <p:cNvPr id="2" name="Slide Number Placeholder 1"/>
          <p:cNvSpPr>
            <a:spLocks noGrp="1"/>
          </p:cNvSpPr>
          <p:nvPr>
            <p:ph type="sldNum" sz="quarter" idx="12"/>
          </p:nvPr>
        </p:nvSpPr>
        <p:spPr/>
        <p:txBody>
          <a:bodyPr/>
          <a:lstStyle/>
          <a:p>
            <a:fld id="{A86F8904-DFC0-E240-BFF8-1216C9CAE37B}" type="slidenum">
              <a:rPr lang="en-US" smtClean="0"/>
              <a:pPr/>
              <a:t>37</a:t>
            </a:fld>
            <a:endParaRPr lang="en-US"/>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noFill/>
          <a:ln/>
        </p:spPr>
        <p:txBody>
          <a:bodyPr/>
          <a:lstStyle/>
          <a:p>
            <a:r>
              <a:rPr lang="en-GB"/>
              <a:t>The system design process</a:t>
            </a:r>
          </a:p>
        </p:txBody>
      </p:sp>
      <p:sp>
        <p:nvSpPr>
          <p:cNvPr id="29699" name="Rectangle 3"/>
          <p:cNvSpPr>
            <a:spLocks noGrp="1" noChangeArrowheads="1"/>
          </p:cNvSpPr>
          <p:nvPr>
            <p:ph type="body" idx="1"/>
          </p:nvPr>
        </p:nvSpPr>
        <p:spPr>
          <a:noFill/>
          <a:ln/>
        </p:spPr>
        <p:txBody>
          <a:bodyPr/>
          <a:lstStyle/>
          <a:p>
            <a:r>
              <a:rPr lang="en-GB" sz="2400"/>
              <a:t>Partition requirements</a:t>
            </a:r>
          </a:p>
          <a:p>
            <a:pPr lvl="1"/>
            <a:r>
              <a:rPr lang="en-GB" sz="2000"/>
              <a:t>Organise requirements into related groups.  </a:t>
            </a:r>
          </a:p>
          <a:p>
            <a:r>
              <a:rPr lang="en-GB" sz="2400"/>
              <a:t>Identify sub-systems</a:t>
            </a:r>
          </a:p>
          <a:p>
            <a:pPr lvl="1"/>
            <a:r>
              <a:rPr lang="en-GB" sz="2000"/>
              <a:t>Identify a set of sub-systems which collectively can meet the system requirements.</a:t>
            </a:r>
          </a:p>
          <a:p>
            <a:r>
              <a:rPr lang="en-GB" sz="2400"/>
              <a:t>Assign requirements to sub-systems</a:t>
            </a:r>
          </a:p>
          <a:p>
            <a:pPr lvl="1"/>
            <a:r>
              <a:rPr lang="en-GB" sz="2000"/>
              <a:t>Causes particular problems when COTS are integrated.</a:t>
            </a:r>
          </a:p>
          <a:p>
            <a:r>
              <a:rPr lang="en-GB" sz="2400"/>
              <a:t>Specify sub-system functionality.</a:t>
            </a:r>
          </a:p>
          <a:p>
            <a:r>
              <a:rPr lang="en-GB" sz="2400"/>
              <a:t>Define sub-system interfaces</a:t>
            </a:r>
          </a:p>
          <a:p>
            <a:pPr lvl="1"/>
            <a:r>
              <a:rPr lang="en-GB" sz="2000"/>
              <a:t>Critical activity for parallel sub-system development.</a:t>
            </a:r>
          </a:p>
        </p:txBody>
      </p:sp>
      <p:sp>
        <p:nvSpPr>
          <p:cNvPr id="2" name="Slide Number Placeholder 1"/>
          <p:cNvSpPr>
            <a:spLocks noGrp="1"/>
          </p:cNvSpPr>
          <p:nvPr>
            <p:ph type="sldNum" sz="quarter" idx="12"/>
          </p:nvPr>
        </p:nvSpPr>
        <p:spPr/>
        <p:txBody>
          <a:bodyPr/>
          <a:lstStyle/>
          <a:p>
            <a:fld id="{A86F8904-DFC0-E240-BFF8-1216C9CAE37B}" type="slidenum">
              <a:rPr lang="en-US" smtClean="0"/>
              <a:pPr/>
              <a:t>38</a:t>
            </a:fld>
            <a:endParaRPr lang="en-US"/>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a:lstStyle/>
          <a:p>
            <a:r>
              <a:rPr lang="en-US"/>
              <a:t>Requirements and design</a:t>
            </a:r>
          </a:p>
        </p:txBody>
      </p:sp>
      <p:sp>
        <p:nvSpPr>
          <p:cNvPr id="96259" name="Rectangle 3"/>
          <p:cNvSpPr>
            <a:spLocks noGrp="1" noChangeArrowheads="1"/>
          </p:cNvSpPr>
          <p:nvPr>
            <p:ph type="body" idx="1"/>
          </p:nvPr>
        </p:nvSpPr>
        <p:spPr/>
        <p:txBody>
          <a:bodyPr/>
          <a:lstStyle/>
          <a:p>
            <a:pPr>
              <a:lnSpc>
                <a:spcPct val="90000"/>
              </a:lnSpc>
            </a:pPr>
            <a:r>
              <a:rPr lang="en-US"/>
              <a:t>Requirements engineering and system design are inextricably linked.</a:t>
            </a:r>
          </a:p>
          <a:p>
            <a:pPr>
              <a:lnSpc>
                <a:spcPct val="90000"/>
              </a:lnSpc>
            </a:pPr>
            <a:r>
              <a:rPr lang="en-US"/>
              <a:t>Constraints posed by the system’s environment and other systems limit design choices so the actual design to be used may be a requirement.</a:t>
            </a:r>
          </a:p>
          <a:p>
            <a:pPr>
              <a:lnSpc>
                <a:spcPct val="90000"/>
              </a:lnSpc>
            </a:pPr>
            <a:r>
              <a:rPr lang="en-US"/>
              <a:t>Initial design may be necessary to structure the requirements.</a:t>
            </a:r>
          </a:p>
          <a:p>
            <a:pPr>
              <a:lnSpc>
                <a:spcPct val="90000"/>
              </a:lnSpc>
            </a:pPr>
            <a:r>
              <a:rPr lang="en-US"/>
              <a:t>As you do design, you learn more about the requirements.</a:t>
            </a:r>
          </a:p>
        </p:txBody>
      </p:sp>
      <p:sp>
        <p:nvSpPr>
          <p:cNvPr id="2" name="Slide Number Placeholder 1"/>
          <p:cNvSpPr>
            <a:spLocks noGrp="1"/>
          </p:cNvSpPr>
          <p:nvPr>
            <p:ph type="sldNum" sz="quarter" idx="12"/>
          </p:nvPr>
        </p:nvSpPr>
        <p:spPr/>
        <p:txBody>
          <a:bodyPr/>
          <a:lstStyle/>
          <a:p>
            <a:fld id="{A86F8904-DFC0-E240-BFF8-1216C9CAE37B}" type="slidenum">
              <a:rPr lang="en-US" smtClean="0"/>
              <a:pPr/>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and design spiral</a:t>
            </a:r>
            <a:r>
              <a:rPr lang="en-GB" dirty="0"/>
              <a:t> </a:t>
            </a:r>
            <a:endParaRPr lang="en-US" dirty="0"/>
          </a:p>
        </p:txBody>
      </p:sp>
      <p:sp>
        <p:nvSpPr>
          <p:cNvPr id="5" name="Slide Number Placeholder 4"/>
          <p:cNvSpPr>
            <a:spLocks noGrp="1"/>
          </p:cNvSpPr>
          <p:nvPr>
            <p:ph type="sldNum" sz="quarter" idx="12"/>
          </p:nvPr>
        </p:nvSpPr>
        <p:spPr/>
        <p:txBody>
          <a:bodyPr/>
          <a:lstStyle/>
          <a:p>
            <a:fld id="{A86F8904-DFC0-E240-BFF8-1216C9CAE37B}" type="slidenum">
              <a:rPr lang="en-US" smtClean="0"/>
              <a:pPr/>
              <a:t>40</a:t>
            </a:fld>
            <a:endParaRPr lang="en-US"/>
          </a:p>
        </p:txBody>
      </p:sp>
      <p:sp>
        <p:nvSpPr>
          <p:cNvPr id="3" name="Content Placeholder 2"/>
          <p:cNvSpPr>
            <a:spLocks noGrp="1"/>
          </p:cNvSpPr>
          <p:nvPr>
            <p:ph idx="1"/>
          </p:nvPr>
        </p:nvSpPr>
        <p:spPr/>
        <p:txBody>
          <a:bodyPr/>
          <a:lstStyle/>
          <a:p>
            <a:endParaRPr lang="ar-SA"/>
          </a:p>
        </p:txBody>
      </p:sp>
      <p:pic>
        <p:nvPicPr>
          <p:cNvPr id="7" name="Picture 6"/>
          <p:cNvPicPr>
            <a:picLocks noChangeAspect="1"/>
          </p:cNvPicPr>
          <p:nvPr/>
        </p:nvPicPr>
        <p:blipFill>
          <a:blip r:embed="rId2"/>
          <a:stretch>
            <a:fillRect/>
          </a:stretch>
        </p:blipFill>
        <p:spPr>
          <a:xfrm>
            <a:off x="944113" y="1485190"/>
            <a:ext cx="7255774" cy="4755982"/>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noFill/>
          <a:ln/>
        </p:spPr>
        <p:txBody>
          <a:bodyPr/>
          <a:lstStyle/>
          <a:p>
            <a:r>
              <a:rPr lang="en-GB"/>
              <a:t>Sub-system development</a:t>
            </a:r>
          </a:p>
        </p:txBody>
      </p:sp>
      <p:sp>
        <p:nvSpPr>
          <p:cNvPr id="32771" name="Rectangle 3"/>
          <p:cNvSpPr>
            <a:spLocks noGrp="1" noChangeArrowheads="1"/>
          </p:cNvSpPr>
          <p:nvPr>
            <p:ph type="body" idx="1"/>
          </p:nvPr>
        </p:nvSpPr>
        <p:spPr>
          <a:noFill/>
          <a:ln/>
        </p:spPr>
        <p:txBody>
          <a:bodyPr/>
          <a:lstStyle/>
          <a:p>
            <a:r>
              <a:rPr lang="en-GB" sz="2400" dirty="0"/>
              <a:t>Typically parallel projects developing the hardware, software and communications.</a:t>
            </a:r>
          </a:p>
          <a:p>
            <a:r>
              <a:rPr lang="en-GB" sz="2400" dirty="0"/>
              <a:t>May involve some COTS  (Commercial Off-the-Shelf) systems procurement.</a:t>
            </a:r>
          </a:p>
          <a:p>
            <a:r>
              <a:rPr lang="en-GB" sz="2400" dirty="0"/>
              <a:t>Lack of communication across implementation teams can cause problems.</a:t>
            </a:r>
          </a:p>
          <a:p>
            <a:r>
              <a:rPr lang="en-GB" sz="2400" dirty="0"/>
              <a:t>There may </a:t>
            </a:r>
            <a:r>
              <a:rPr lang="en-GB" dirty="0"/>
              <a:t>be a b</a:t>
            </a:r>
            <a:r>
              <a:rPr lang="en-GB" sz="2400" dirty="0"/>
              <a:t>ureaucratic and slow mechanism for </a:t>
            </a:r>
            <a:br>
              <a:rPr lang="en-GB" sz="2400" dirty="0"/>
            </a:br>
            <a:r>
              <a:rPr lang="en-GB" sz="2400" dirty="0"/>
              <a:t>proposing system changes, which means that the development schedule may be extended because of the need for rework.</a:t>
            </a:r>
          </a:p>
        </p:txBody>
      </p:sp>
      <p:sp>
        <p:nvSpPr>
          <p:cNvPr id="2" name="Slide Number Placeholder 1"/>
          <p:cNvSpPr>
            <a:spLocks noGrp="1"/>
          </p:cNvSpPr>
          <p:nvPr>
            <p:ph type="sldNum" sz="quarter" idx="12"/>
          </p:nvPr>
        </p:nvSpPr>
        <p:spPr/>
        <p:txBody>
          <a:bodyPr/>
          <a:lstStyle/>
          <a:p>
            <a:fld id="{A86F8904-DFC0-E240-BFF8-1216C9CAE37B}" type="slidenum">
              <a:rPr lang="en-US" smtClean="0"/>
              <a:pPr/>
              <a:t>41</a:t>
            </a:fld>
            <a:endParaRPr lang="en-US"/>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body" idx="1"/>
          </p:nvPr>
        </p:nvSpPr>
        <p:spPr>
          <a:noFill/>
          <a:ln/>
        </p:spPr>
        <p:txBody>
          <a:bodyPr/>
          <a:lstStyle/>
          <a:p>
            <a:r>
              <a:rPr lang="en-GB" dirty="0"/>
              <a:t>The process of putting hardware, software and </a:t>
            </a:r>
            <a:br>
              <a:rPr lang="en-GB" dirty="0"/>
            </a:br>
            <a:r>
              <a:rPr lang="en-GB" dirty="0"/>
              <a:t>people together to make a system.</a:t>
            </a:r>
          </a:p>
          <a:p>
            <a:r>
              <a:rPr lang="en-GB" dirty="0"/>
              <a:t>Should ideally be tackled incrementally so that sub-systems are integrated one at a time.</a:t>
            </a:r>
          </a:p>
          <a:p>
            <a:r>
              <a:rPr lang="en-GB" dirty="0"/>
              <a:t>The system is tested as it is integrated.</a:t>
            </a:r>
          </a:p>
          <a:p>
            <a:r>
              <a:rPr lang="en-GB" dirty="0"/>
              <a:t>Interface problems between sub-systems are usually found at this stage.</a:t>
            </a:r>
          </a:p>
          <a:p>
            <a:r>
              <a:rPr lang="en-GB" dirty="0"/>
              <a:t>May be problems with uncoordinated deliveries </a:t>
            </a:r>
            <a:br>
              <a:rPr lang="en-GB" dirty="0"/>
            </a:br>
            <a:r>
              <a:rPr lang="en-GB" dirty="0"/>
              <a:t>of system components.</a:t>
            </a:r>
          </a:p>
        </p:txBody>
      </p:sp>
      <p:sp>
        <p:nvSpPr>
          <p:cNvPr id="34819" name="Rectangle 3"/>
          <p:cNvSpPr>
            <a:spLocks noGrp="1" noChangeArrowheads="1"/>
          </p:cNvSpPr>
          <p:nvPr>
            <p:ph type="title"/>
          </p:nvPr>
        </p:nvSpPr>
        <p:spPr>
          <a:noFill/>
          <a:ln/>
        </p:spPr>
        <p:txBody>
          <a:bodyPr/>
          <a:lstStyle/>
          <a:p>
            <a:r>
              <a:rPr lang="en-GB"/>
              <a:t>System integration</a:t>
            </a:r>
          </a:p>
        </p:txBody>
      </p:sp>
      <p:sp>
        <p:nvSpPr>
          <p:cNvPr id="2" name="Slide Number Placeholder 1"/>
          <p:cNvSpPr>
            <a:spLocks noGrp="1"/>
          </p:cNvSpPr>
          <p:nvPr>
            <p:ph type="sldNum" sz="quarter" idx="12"/>
          </p:nvPr>
        </p:nvSpPr>
        <p:spPr/>
        <p:txBody>
          <a:bodyPr/>
          <a:lstStyle/>
          <a:p>
            <a:fld id="{A86F8904-DFC0-E240-BFF8-1216C9CAE37B}" type="slidenum">
              <a:rPr lang="en-US" smtClean="0"/>
              <a:pPr/>
              <a:t>42</a:t>
            </a:fld>
            <a:endParaRPr lang="en-US"/>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body" idx="1"/>
          </p:nvPr>
        </p:nvSpPr>
        <p:spPr>
          <a:noFill/>
          <a:ln/>
        </p:spPr>
        <p:txBody>
          <a:bodyPr/>
          <a:lstStyle/>
          <a:p>
            <a:pPr>
              <a:lnSpc>
                <a:spcPct val="90000"/>
              </a:lnSpc>
            </a:pPr>
            <a:r>
              <a:rPr lang="en-GB" dirty="0"/>
              <a:t>After completion, the system has to be installed in the customer’s environment</a:t>
            </a:r>
          </a:p>
          <a:p>
            <a:pPr lvl="1">
              <a:lnSpc>
                <a:spcPct val="90000"/>
              </a:lnSpc>
            </a:pPr>
            <a:r>
              <a:rPr lang="en-GB" dirty="0"/>
              <a:t>Environmental assumptions may be incorrect;</a:t>
            </a:r>
          </a:p>
          <a:p>
            <a:pPr lvl="1">
              <a:lnSpc>
                <a:spcPct val="90000"/>
              </a:lnSpc>
            </a:pPr>
            <a:r>
              <a:rPr lang="en-GB" dirty="0"/>
              <a:t>May be human resistance to the introduction of a new system;</a:t>
            </a:r>
          </a:p>
          <a:p>
            <a:pPr lvl="1">
              <a:lnSpc>
                <a:spcPct val="90000"/>
              </a:lnSpc>
            </a:pPr>
            <a:r>
              <a:rPr lang="en-GB" dirty="0"/>
              <a:t>System may have to coexist with alternative systems for some time;</a:t>
            </a:r>
          </a:p>
          <a:p>
            <a:pPr lvl="1">
              <a:lnSpc>
                <a:spcPct val="90000"/>
              </a:lnSpc>
            </a:pPr>
            <a:r>
              <a:rPr lang="en-GB" dirty="0"/>
              <a:t>May be physical installation problems (e.g. cabling problems);</a:t>
            </a:r>
          </a:p>
          <a:p>
            <a:pPr lvl="1">
              <a:lnSpc>
                <a:spcPct val="90000"/>
              </a:lnSpc>
            </a:pPr>
            <a:r>
              <a:rPr lang="en-GB" dirty="0"/>
              <a:t>Data cleanup may be required;</a:t>
            </a:r>
          </a:p>
          <a:p>
            <a:pPr lvl="1">
              <a:lnSpc>
                <a:spcPct val="90000"/>
              </a:lnSpc>
            </a:pPr>
            <a:r>
              <a:rPr lang="en-GB" dirty="0"/>
              <a:t>Operator training has to be identified.</a:t>
            </a:r>
          </a:p>
        </p:txBody>
      </p:sp>
      <p:sp>
        <p:nvSpPr>
          <p:cNvPr id="36867" name="Rectangle 3"/>
          <p:cNvSpPr>
            <a:spLocks noGrp="1" noChangeArrowheads="1"/>
          </p:cNvSpPr>
          <p:nvPr>
            <p:ph type="title"/>
          </p:nvPr>
        </p:nvSpPr>
        <p:spPr>
          <a:noFill/>
          <a:ln/>
        </p:spPr>
        <p:txBody>
          <a:bodyPr/>
          <a:lstStyle/>
          <a:p>
            <a:r>
              <a:rPr lang="en-GB" dirty="0"/>
              <a:t>System delivery and deployment</a:t>
            </a:r>
          </a:p>
        </p:txBody>
      </p:sp>
      <p:sp>
        <p:nvSpPr>
          <p:cNvPr id="2" name="Slide Number Placeholder 1"/>
          <p:cNvSpPr>
            <a:spLocks noGrp="1"/>
          </p:cNvSpPr>
          <p:nvPr>
            <p:ph type="sldNum" sz="quarter" idx="12"/>
          </p:nvPr>
        </p:nvSpPr>
        <p:spPr/>
        <p:txBody>
          <a:bodyPr/>
          <a:lstStyle/>
          <a:p>
            <a:fld id="{A86F8904-DFC0-E240-BFF8-1216C9CAE37B}" type="slidenum">
              <a:rPr lang="en-US" smtClean="0"/>
              <a:pPr/>
              <a:t>43</a:t>
            </a:fld>
            <a:endParaRPr lang="en-US"/>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Development and dependability</a:t>
            </a:r>
          </a:p>
        </p:txBody>
      </p:sp>
      <p:sp>
        <p:nvSpPr>
          <p:cNvPr id="3" name="Content Placeholder 2"/>
          <p:cNvSpPr>
            <a:spLocks noGrp="1"/>
          </p:cNvSpPr>
          <p:nvPr>
            <p:ph idx="1"/>
          </p:nvPr>
        </p:nvSpPr>
        <p:spPr/>
        <p:txBody>
          <a:bodyPr/>
          <a:lstStyle/>
          <a:p>
            <a:r>
              <a:rPr lang="en-US" dirty="0"/>
              <a:t>Decisions are made on dependability and security requirements and trade-offs made between costs, schedule, performance and dependability.</a:t>
            </a:r>
          </a:p>
          <a:p>
            <a:r>
              <a:rPr lang="en-US" dirty="0"/>
              <a:t>Human errors may lead to the introduction of faults into the system.</a:t>
            </a:r>
          </a:p>
          <a:p>
            <a:r>
              <a:rPr lang="en-US" dirty="0"/>
              <a:t>Testing and validation processes may be limited because of limited budgets.</a:t>
            </a:r>
          </a:p>
          <a:p>
            <a:r>
              <a:rPr lang="en-US" dirty="0"/>
              <a:t>Problems in deployment mean there may be a mismatch between the system and its operational environment.</a:t>
            </a:r>
          </a:p>
        </p:txBody>
      </p:sp>
      <p:sp>
        <p:nvSpPr>
          <p:cNvPr id="5" name="Slide Number Placeholder 4"/>
          <p:cNvSpPr>
            <a:spLocks noGrp="1"/>
          </p:cNvSpPr>
          <p:nvPr>
            <p:ph type="sldNum" sz="quarter" idx="12"/>
          </p:nvPr>
        </p:nvSpPr>
        <p:spPr/>
        <p:txBody>
          <a:bodyPr/>
          <a:lstStyle/>
          <a:p>
            <a:fld id="{A86F8904-DFC0-E240-BFF8-1216C9CAE37B}" type="slidenum">
              <a:rPr lang="en-US" smtClean="0"/>
              <a:pPr/>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operation</a:t>
            </a:r>
          </a:p>
        </p:txBody>
      </p:sp>
      <p:sp>
        <p:nvSpPr>
          <p:cNvPr id="3" name="Content Placeholder 2"/>
          <p:cNvSpPr>
            <a:spLocks noGrp="1"/>
          </p:cNvSpPr>
          <p:nvPr>
            <p:ph idx="1"/>
          </p:nvPr>
        </p:nvSpPr>
        <p:spPr/>
        <p:txBody>
          <a:bodyPr/>
          <a:lstStyle/>
          <a:p>
            <a:r>
              <a:rPr lang="en-US" dirty="0"/>
              <a:t>Operational processes are the processes involved in using the system for its defined purpose.</a:t>
            </a:r>
          </a:p>
          <a:p>
            <a:r>
              <a:rPr lang="en-US" dirty="0"/>
              <a:t>For new systems, these processes may have to be designed and tested and operators trained in the use of the system.</a:t>
            </a:r>
          </a:p>
          <a:p>
            <a:r>
              <a:rPr lang="en-US" dirty="0"/>
              <a:t>Operational processes should be flexible to allow operators to cope with problems and periods of fluctuating workload.</a:t>
            </a:r>
          </a:p>
        </p:txBody>
      </p:sp>
      <p:sp>
        <p:nvSpPr>
          <p:cNvPr id="5" name="Slide Number Placeholder 4"/>
          <p:cNvSpPr>
            <a:spLocks noGrp="1"/>
          </p:cNvSpPr>
          <p:nvPr>
            <p:ph type="sldNum" sz="quarter" idx="12"/>
          </p:nvPr>
        </p:nvSpPr>
        <p:spPr/>
        <p:txBody>
          <a:bodyPr/>
          <a:lstStyle/>
          <a:p>
            <a:fld id="{A86F8904-DFC0-E240-BFF8-1216C9CAE37B}" type="slidenum">
              <a:rPr lang="en-US" smtClean="0"/>
              <a:pPr/>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Human error</a:t>
            </a:r>
          </a:p>
        </p:txBody>
      </p:sp>
      <p:sp>
        <p:nvSpPr>
          <p:cNvPr id="3" name="Content Placeholder 2"/>
          <p:cNvSpPr>
            <a:spLocks noGrp="1"/>
          </p:cNvSpPr>
          <p:nvPr>
            <p:ph idx="1"/>
          </p:nvPr>
        </p:nvSpPr>
        <p:spPr/>
        <p:txBody>
          <a:bodyPr/>
          <a:lstStyle/>
          <a:p>
            <a:r>
              <a:rPr lang="en-US" dirty="0"/>
              <a:t>Human errors occur in operational processes that influence the overall dependability of the system.</a:t>
            </a:r>
          </a:p>
          <a:p>
            <a:r>
              <a:rPr lang="en-US" dirty="0"/>
              <a:t>Viewing human errors:</a:t>
            </a:r>
          </a:p>
          <a:p>
            <a:pPr lvl="1"/>
            <a:r>
              <a:rPr lang="en-US" dirty="0"/>
              <a:t>The person approach makes errors the responsibility of the individual and places the blame for error on the operator concerned. Actions to reduce error include threats of punishment, better training, more stringent procedures, etc.</a:t>
            </a:r>
          </a:p>
          <a:p>
            <a:pPr lvl="1"/>
            <a:r>
              <a:rPr lang="en-US" dirty="0"/>
              <a:t>The systems approach assumes that people are fallible and will make mistakes. The system is designed to detect these mistakes before they lead to system failure. When a failure occurs, the aim is not to blame an individual but to understand why the system defenses did not trap the error.</a:t>
            </a:r>
          </a:p>
        </p:txBody>
      </p:sp>
      <p:sp>
        <p:nvSpPr>
          <p:cNvPr id="5" name="Slide Number Placeholder 4"/>
          <p:cNvSpPr>
            <a:spLocks noGrp="1"/>
          </p:cNvSpPr>
          <p:nvPr>
            <p:ph type="sldNum" sz="quarter" idx="12"/>
          </p:nvPr>
        </p:nvSpPr>
        <p:spPr/>
        <p:txBody>
          <a:bodyPr/>
          <a:lstStyle/>
          <a:p>
            <a:fld id="{A86F8904-DFC0-E240-BFF8-1216C9CAE37B}" type="slidenum">
              <a:rPr lang="en-US" smtClean="0"/>
              <a:pPr/>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noFill/>
          <a:ln/>
        </p:spPr>
        <p:txBody>
          <a:bodyPr/>
          <a:lstStyle/>
          <a:p>
            <a:r>
              <a:rPr lang="en-GB"/>
              <a:t>System evolution</a:t>
            </a:r>
          </a:p>
        </p:txBody>
      </p:sp>
      <p:sp>
        <p:nvSpPr>
          <p:cNvPr id="40963" name="Rectangle 3"/>
          <p:cNvSpPr>
            <a:spLocks noGrp="1" noChangeArrowheads="1"/>
          </p:cNvSpPr>
          <p:nvPr>
            <p:ph type="body" idx="1"/>
          </p:nvPr>
        </p:nvSpPr>
        <p:spPr>
          <a:noFill/>
          <a:ln/>
        </p:spPr>
        <p:txBody>
          <a:bodyPr/>
          <a:lstStyle/>
          <a:p>
            <a:r>
              <a:rPr lang="en-GB" sz="2400" dirty="0"/>
              <a:t>Large systems have a long lifetime. They must evolve to meet changing requirements.</a:t>
            </a:r>
          </a:p>
          <a:p>
            <a:r>
              <a:rPr lang="en-GB" sz="2400" dirty="0"/>
              <a:t>Evolution is inherently costly</a:t>
            </a:r>
          </a:p>
          <a:p>
            <a:pPr lvl="1"/>
            <a:r>
              <a:rPr lang="en-GB" sz="2000" dirty="0"/>
              <a:t>Changes must be analysed from a technical and business perspective;</a:t>
            </a:r>
          </a:p>
          <a:p>
            <a:pPr lvl="1"/>
            <a:r>
              <a:rPr lang="en-GB" sz="2000" dirty="0"/>
              <a:t>Sub-systems interact so unanticipated problems can arise;</a:t>
            </a:r>
          </a:p>
          <a:p>
            <a:pPr lvl="1"/>
            <a:r>
              <a:rPr lang="en-GB" sz="2000" dirty="0"/>
              <a:t>There is rarely a rationale for original design decisions;</a:t>
            </a:r>
          </a:p>
          <a:p>
            <a:pPr lvl="1"/>
            <a:r>
              <a:rPr lang="en-GB" sz="2000" dirty="0"/>
              <a:t>System structure is corrupted as changes are made to it.</a:t>
            </a:r>
          </a:p>
          <a:p>
            <a:r>
              <a:rPr lang="en-GB" sz="2400" dirty="0"/>
              <a:t>Existing systems which must be maintained are sometimes called legacy systems.</a:t>
            </a:r>
            <a:endParaRPr lang="en-GB" sz="2400" dirty="0">
              <a:solidFill>
                <a:schemeClr val="tx1"/>
              </a:solidFill>
            </a:endParaRPr>
          </a:p>
        </p:txBody>
      </p:sp>
      <p:sp>
        <p:nvSpPr>
          <p:cNvPr id="2" name="Slide Number Placeholder 1"/>
          <p:cNvSpPr>
            <a:spLocks noGrp="1"/>
          </p:cNvSpPr>
          <p:nvPr>
            <p:ph type="sldNum" sz="quarter" idx="12"/>
          </p:nvPr>
        </p:nvSpPr>
        <p:spPr/>
        <p:txBody>
          <a:bodyPr/>
          <a:lstStyle/>
          <a:p>
            <a:fld id="{A86F8904-DFC0-E240-BFF8-1216C9CAE37B}" type="slidenum">
              <a:rPr lang="en-US" smtClean="0"/>
              <a:pPr/>
              <a:t>47</a:t>
            </a:fld>
            <a:endParaRPr lang="en-US"/>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Evolution and dependability</a:t>
            </a:r>
          </a:p>
        </p:txBody>
      </p:sp>
      <p:sp>
        <p:nvSpPr>
          <p:cNvPr id="3" name="Content Placeholder 2"/>
          <p:cNvSpPr>
            <a:spLocks noGrp="1"/>
          </p:cNvSpPr>
          <p:nvPr>
            <p:ph idx="1"/>
          </p:nvPr>
        </p:nvSpPr>
        <p:spPr/>
        <p:txBody>
          <a:bodyPr/>
          <a:lstStyle/>
          <a:p>
            <a:r>
              <a:rPr lang="en-US" dirty="0"/>
              <a:t>Changes to a system are often a source of problems and vulnerabilities.</a:t>
            </a:r>
          </a:p>
          <a:p>
            <a:r>
              <a:rPr lang="en-US" dirty="0"/>
              <a:t>Changes may be made without knowledge of previous design decisions made for security and dependability reasons. </a:t>
            </a:r>
          </a:p>
          <a:p>
            <a:pPr lvl="1"/>
            <a:r>
              <a:rPr lang="en-US" dirty="0"/>
              <a:t>Built-in safeguards may stop working.</a:t>
            </a:r>
          </a:p>
          <a:p>
            <a:r>
              <a:rPr lang="en-US" dirty="0"/>
              <a:t>New faults may be introduced or latent faults exposed by changes. </a:t>
            </a:r>
          </a:p>
          <a:p>
            <a:pPr lvl="1"/>
            <a:r>
              <a:rPr lang="en-US" dirty="0"/>
              <a:t>These may not be discovered because complete system retesting is too expensive.</a:t>
            </a:r>
          </a:p>
        </p:txBody>
      </p:sp>
      <p:sp>
        <p:nvSpPr>
          <p:cNvPr id="5" name="Slide Number Placeholder 4"/>
          <p:cNvSpPr>
            <a:spLocks noGrp="1"/>
          </p:cNvSpPr>
          <p:nvPr>
            <p:ph type="sldNum" sz="quarter" idx="12"/>
          </p:nvPr>
        </p:nvSpPr>
        <p:spPr/>
        <p:txBody>
          <a:bodyPr/>
          <a:lstStyle/>
          <a:p>
            <a:fld id="{A86F8904-DFC0-E240-BFF8-1216C9CAE37B}" type="slidenum">
              <a:rPr lang="en-US" smtClean="0"/>
              <a:pPr/>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p:txBody>
          <a:bodyPr/>
          <a:lstStyle/>
          <a:p>
            <a:r>
              <a:rPr lang="en-GB" dirty="0"/>
              <a:t>Socio-technical systems include computer hardware, software and people and are designed to meet some business goal.</a:t>
            </a:r>
          </a:p>
          <a:p>
            <a:r>
              <a:rPr lang="en-GB" dirty="0"/>
              <a:t>Human and organizational factors, such as the organizational structure, have a significant effect on the operation of socio-technical systems.</a:t>
            </a:r>
          </a:p>
          <a:p>
            <a:r>
              <a:rPr lang="en-GB" dirty="0"/>
              <a:t>Emergent properties are properties that are characteristic of the system as a whole and not its component parts. </a:t>
            </a:r>
          </a:p>
          <a:p>
            <a:r>
              <a:rPr lang="en-GB" dirty="0"/>
              <a:t>The fundamental stages of systems engineering are procurement, development and operation.</a:t>
            </a:r>
          </a:p>
          <a:p>
            <a:endParaRPr lang="en-GB" dirty="0"/>
          </a:p>
          <a:p>
            <a:endParaRPr lang="en-US" dirty="0"/>
          </a:p>
        </p:txBody>
      </p:sp>
      <p:sp>
        <p:nvSpPr>
          <p:cNvPr id="5" name="Slide Number Placeholder 4"/>
          <p:cNvSpPr>
            <a:spLocks noGrp="1"/>
          </p:cNvSpPr>
          <p:nvPr>
            <p:ph type="sldNum" sz="quarter" idx="12"/>
          </p:nvPr>
        </p:nvSpPr>
        <p:spPr/>
        <p:txBody>
          <a:bodyPr/>
          <a:lstStyle/>
          <a:p>
            <a:fld id="{A86F8904-DFC0-E240-BFF8-1216C9CAE37B}" type="slidenum">
              <a:rPr lang="en-US" smtClean="0"/>
              <a:pPr/>
              <a:t>49</a:t>
            </a:fld>
            <a:endParaRPr lang="en-US"/>
          </a:p>
        </p:txBody>
      </p:sp>
    </p:spTree>
    <p:extLst>
      <p:ext uri="{BB962C8B-B14F-4D97-AF65-F5344CB8AC3E}">
        <p14:creationId xmlns:p14="http://schemas.microsoft.com/office/powerpoint/2010/main" val="278779581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a:xfrm>
            <a:off x="457200" y="1600200"/>
            <a:ext cx="8466566" cy="4525963"/>
          </a:xfrm>
        </p:spPr>
        <p:txBody>
          <a:bodyPr/>
          <a:lstStyle/>
          <a:p>
            <a:r>
              <a:rPr lang="en-GB" dirty="0"/>
              <a:t>System procurement covers all of the activities involved in deciding what system to buy and who should supply that system. </a:t>
            </a:r>
          </a:p>
          <a:p>
            <a:r>
              <a:rPr lang="en-GB" dirty="0"/>
              <a:t>System development includes requirements specification, design, construction, integration and testing. </a:t>
            </a:r>
          </a:p>
          <a:p>
            <a:r>
              <a:rPr lang="en-GB" dirty="0"/>
              <a:t>When a system is put into use, the operational processes and the system itself have to change to reflect changing business requirements. </a:t>
            </a:r>
          </a:p>
          <a:p>
            <a:r>
              <a:rPr lang="en-GB" dirty="0"/>
              <a:t>Human errors are inevitable and systems should include barriers to detect these errors before they lead to system failure. </a:t>
            </a:r>
          </a:p>
          <a:p>
            <a:endParaRPr lang="en-US" dirty="0"/>
          </a:p>
        </p:txBody>
      </p:sp>
      <p:sp>
        <p:nvSpPr>
          <p:cNvPr id="5" name="Slide Number Placeholder 4"/>
          <p:cNvSpPr>
            <a:spLocks noGrp="1"/>
          </p:cNvSpPr>
          <p:nvPr>
            <p:ph type="sldNum" sz="quarter" idx="12"/>
          </p:nvPr>
        </p:nvSpPr>
        <p:spPr/>
        <p:txBody>
          <a:bodyPr/>
          <a:lstStyle/>
          <a:p>
            <a:fld id="{A86F8904-DFC0-E240-BFF8-1216C9CAE37B}" type="slidenum">
              <a:rPr lang="en-US" smtClean="0"/>
              <a:pPr/>
              <a:t>50</a:t>
            </a:fld>
            <a:endParaRPr lang="en-US"/>
          </a:p>
        </p:txBody>
      </p:sp>
    </p:spTree>
  </p:cSld>
  <p:clrMapOvr>
    <a:masterClrMapping/>
  </p:clrMapOvr>
</p:sld>
</file>

<file path=ppt/theme/theme1.xml><?xml version="1.0" encoding="utf-8"?>
<a:theme xmlns:a="http://schemas.openxmlformats.org/drawingml/2006/main" name="SE9">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SE9.thmx</Template>
  <TotalTime>0</TotalTime>
  <Words>2957</Words>
  <Application>Microsoft Office PowerPoint</Application>
  <PresentationFormat>On-screen Show (4:3)</PresentationFormat>
  <Paragraphs>315</Paragraphs>
  <Slides>50</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50</vt:i4>
      </vt:variant>
    </vt:vector>
  </HeadingPairs>
  <TitlesOfParts>
    <vt:vector size="54" baseType="lpstr">
      <vt:lpstr>Arial</vt:lpstr>
      <vt:lpstr>Calibri</vt:lpstr>
      <vt:lpstr>Wingdings</vt:lpstr>
      <vt:lpstr>SE9</vt:lpstr>
      <vt:lpstr>Chapter 10 – Socio-technical Systems</vt:lpstr>
      <vt:lpstr>Topics covered</vt:lpstr>
      <vt:lpstr>Systems</vt:lpstr>
      <vt:lpstr>STS Examples</vt:lpstr>
      <vt:lpstr>The socio-technical systems stack </vt:lpstr>
      <vt:lpstr>Layers in the STS stack</vt:lpstr>
      <vt:lpstr>Layers in the STS stack</vt:lpstr>
      <vt:lpstr>Holistic system design</vt:lpstr>
      <vt:lpstr>Complex systems</vt:lpstr>
      <vt:lpstr>System categories</vt:lpstr>
      <vt:lpstr>Organizational affects</vt:lpstr>
      <vt:lpstr>Socio-technical system characteristics</vt:lpstr>
      <vt:lpstr>Emergent properties</vt:lpstr>
      <vt:lpstr>Examples of emergent properties </vt:lpstr>
      <vt:lpstr>Types of emergent property</vt:lpstr>
      <vt:lpstr>Reliability as an emergent property</vt:lpstr>
      <vt:lpstr>Influences on reliability</vt:lpstr>
      <vt:lpstr>Failure propagation </vt:lpstr>
      <vt:lpstr>Non-determinism</vt:lpstr>
      <vt:lpstr>Success criteria</vt:lpstr>
      <vt:lpstr>Conflicting views of success</vt:lpstr>
      <vt:lpstr>Systems engineering</vt:lpstr>
      <vt:lpstr>Stages of systems engineering </vt:lpstr>
      <vt:lpstr>Systems engineering stages</vt:lpstr>
      <vt:lpstr>Security and dependability considerations</vt:lpstr>
      <vt:lpstr>Professional disciplines involved in systems engineering </vt:lpstr>
      <vt:lpstr>Inter-disciplinary working</vt:lpstr>
      <vt:lpstr>System procurement</vt:lpstr>
      <vt:lpstr>Decision drivers</vt:lpstr>
      <vt:lpstr>Procurement and development</vt:lpstr>
      <vt:lpstr>System procurement processes</vt:lpstr>
      <vt:lpstr>Procurement issues</vt:lpstr>
      <vt:lpstr>Contractors and sub-contractors</vt:lpstr>
      <vt:lpstr>Procurement and dependability</vt:lpstr>
      <vt:lpstr>System development</vt:lpstr>
      <vt:lpstr>Systems development </vt:lpstr>
      <vt:lpstr>System requirements definition</vt:lpstr>
      <vt:lpstr>The system design process</vt:lpstr>
      <vt:lpstr>Requirements and design</vt:lpstr>
      <vt:lpstr>Requirements and design spiral </vt:lpstr>
      <vt:lpstr>Sub-system development</vt:lpstr>
      <vt:lpstr>System integration</vt:lpstr>
      <vt:lpstr>System delivery and deployment</vt:lpstr>
      <vt:lpstr>Development and dependability</vt:lpstr>
      <vt:lpstr>System operation</vt:lpstr>
      <vt:lpstr>Human error</vt:lpstr>
      <vt:lpstr>System evolution</vt:lpstr>
      <vt:lpstr>Evolution and dependability</vt:lpstr>
      <vt:lpstr>Key points</vt:lpstr>
      <vt:lpstr>Key points</vt:lpstr>
    </vt:vector>
  </TitlesOfParts>
  <Company>St Andrews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10</dc:title>
  <dc:creator>Ian Sommerville</dc:creator>
  <cp:lastModifiedBy>Mohammed Bonais</cp:lastModifiedBy>
  <cp:revision>31</cp:revision>
  <dcterms:created xsi:type="dcterms:W3CDTF">2009-12-28T09:42:28Z</dcterms:created>
  <dcterms:modified xsi:type="dcterms:W3CDTF">2021-11-07T05:11:45Z</dcterms:modified>
</cp:coreProperties>
</file>